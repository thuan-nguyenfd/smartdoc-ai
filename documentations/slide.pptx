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charset="1" panose="00000500000000000000"/>
      <p:regular r:id="rId25"/>
    </p:embeddedFont>
    <p:embeddedFont>
      <p:font typeface="Oswald Bold" charset="1" panose="00000800000000000000"/>
      <p:regular r:id="rId26"/>
    </p:embeddedFont>
    <p:embeddedFont>
      <p:font typeface="Noto Sans Bold" charset="1" panose="020B0802040504020204"/>
      <p:regular r:id="rId27"/>
    </p:embeddedFont>
    <p:embeddedFont>
      <p:font typeface="Noto Sans" charset="1" panose="020B0502040504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https://vnptai.io/vi/blog/detail/tri-tue-nhan-tao-ai-la-gi" TargetMode="External" Type="http://schemas.openxmlformats.org/officeDocument/2006/relationships/hyperlink"/><Relationship Id="rId6" Target="https://vnptai.io/vi/blog/detail/llm-la-gi" TargetMode="External" Type="http://schemas.openxmlformats.org/officeDocument/2006/relationships/hyperlink"/><Relationship Id="rId7" Target="https://vnptai.io/vi/blog/detail/llm-la-gi"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2080009" y="-1519728"/>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95454" y="6826250"/>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536223" y="1044602"/>
            <a:ext cx="502078" cy="502078"/>
          </a:xfrm>
          <a:custGeom>
            <a:avLst/>
            <a:gdLst/>
            <a:ahLst/>
            <a:cxnLst/>
            <a:rect r="r" b="b" t="t" l="l"/>
            <a:pathLst>
              <a:path h="502078" w="502078">
                <a:moveTo>
                  <a:pt x="0" y="0"/>
                </a:moveTo>
                <a:lnTo>
                  <a:pt x="502077" y="0"/>
                </a:lnTo>
                <a:lnTo>
                  <a:pt x="502077" y="502078"/>
                </a:lnTo>
                <a:lnTo>
                  <a:pt x="0" y="5020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76901" y="8816975"/>
            <a:ext cx="6121016" cy="441325"/>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Poppins"/>
                <a:ea typeface="Poppins"/>
                <a:cs typeface="Poppins"/>
                <a:sym typeface="Poppins"/>
              </a:rPr>
              <a:t>Phát triển phần mềm mã nguồn mở</a:t>
            </a:r>
          </a:p>
        </p:txBody>
      </p:sp>
      <p:sp>
        <p:nvSpPr>
          <p:cNvPr name="TextBox 6" id="6"/>
          <p:cNvSpPr txBox="true"/>
          <p:nvPr/>
        </p:nvSpPr>
        <p:spPr>
          <a:xfrm rot="0">
            <a:off x="14695454" y="1041641"/>
            <a:ext cx="1947059" cy="441325"/>
          </a:xfrm>
          <a:prstGeom prst="rect">
            <a:avLst/>
          </a:prstGeom>
        </p:spPr>
        <p:txBody>
          <a:bodyPr anchor="t" rtlCol="false" tIns="0" lIns="0" bIns="0" rIns="0">
            <a:spAutoFit/>
          </a:bodyPr>
          <a:lstStyle/>
          <a:p>
            <a:pPr algn="r">
              <a:lnSpc>
                <a:spcPts val="3499"/>
              </a:lnSpc>
              <a:spcBef>
                <a:spcPct val="0"/>
              </a:spcBef>
            </a:pPr>
            <a:r>
              <a:rPr lang="en-US" sz="2499">
                <a:solidFill>
                  <a:srgbClr val="000000"/>
                </a:solidFill>
                <a:latin typeface="Poppins"/>
                <a:ea typeface="Poppins"/>
                <a:cs typeface="Poppins"/>
                <a:sym typeface="Poppins"/>
              </a:rPr>
              <a:t>Nhóm 23</a:t>
            </a:r>
          </a:p>
        </p:txBody>
      </p:sp>
      <p:sp>
        <p:nvSpPr>
          <p:cNvPr name="AutoShape 7" id="7"/>
          <p:cNvSpPr/>
          <p:nvPr/>
        </p:nvSpPr>
        <p:spPr>
          <a:xfrm>
            <a:off x="1322033" y="7299371"/>
            <a:ext cx="6492240" cy="0"/>
          </a:xfrm>
          <a:prstGeom prst="line">
            <a:avLst/>
          </a:prstGeom>
          <a:ln cap="flat" w="66675">
            <a:solidFill>
              <a:srgbClr val="000000"/>
            </a:solidFill>
            <a:prstDash val="solid"/>
            <a:headEnd type="none" len="sm" w="sm"/>
            <a:tailEnd type="none" len="sm" w="sm"/>
          </a:ln>
        </p:spPr>
      </p:sp>
      <p:sp>
        <p:nvSpPr>
          <p:cNvPr name="Freeform 8" id="8"/>
          <p:cNvSpPr/>
          <p:nvPr/>
        </p:nvSpPr>
        <p:spPr>
          <a:xfrm flipH="false" flipV="false" rot="0">
            <a:off x="8908272" y="3211170"/>
            <a:ext cx="8564342" cy="3864659"/>
          </a:xfrm>
          <a:custGeom>
            <a:avLst/>
            <a:gdLst/>
            <a:ahLst/>
            <a:cxnLst/>
            <a:rect r="r" b="b" t="t" l="l"/>
            <a:pathLst>
              <a:path h="3864659" w="8564342">
                <a:moveTo>
                  <a:pt x="0" y="0"/>
                </a:moveTo>
                <a:lnTo>
                  <a:pt x="8564342" y="0"/>
                </a:lnTo>
                <a:lnTo>
                  <a:pt x="8564342" y="3864660"/>
                </a:lnTo>
                <a:lnTo>
                  <a:pt x="0" y="3864660"/>
                </a:lnTo>
                <a:lnTo>
                  <a:pt x="0" y="0"/>
                </a:lnTo>
                <a:close/>
              </a:path>
            </a:pathLst>
          </a:custGeom>
          <a:blipFill>
            <a:blip r:embed="rId6"/>
            <a:stretch>
              <a:fillRect l="0" t="0" r="0" b="0"/>
            </a:stretch>
          </a:blipFill>
        </p:spPr>
      </p:sp>
      <p:sp>
        <p:nvSpPr>
          <p:cNvPr name="TextBox 9" id="9"/>
          <p:cNvSpPr txBox="true"/>
          <p:nvPr/>
        </p:nvSpPr>
        <p:spPr>
          <a:xfrm rot="0">
            <a:off x="1322033" y="3239451"/>
            <a:ext cx="7318919" cy="1301749"/>
          </a:xfrm>
          <a:prstGeom prst="rect">
            <a:avLst/>
          </a:prstGeom>
        </p:spPr>
        <p:txBody>
          <a:bodyPr anchor="t" rtlCol="false" tIns="0" lIns="0" bIns="0" rIns="0">
            <a:spAutoFit/>
          </a:bodyPr>
          <a:lstStyle/>
          <a:p>
            <a:pPr algn="l">
              <a:lnSpc>
                <a:spcPts val="9699"/>
              </a:lnSpc>
            </a:pPr>
            <a:r>
              <a:rPr lang="en-US" sz="9999" b="true">
                <a:solidFill>
                  <a:srgbClr val="000000"/>
                </a:solidFill>
                <a:latin typeface="Oswald Bold"/>
                <a:ea typeface="Oswald Bold"/>
                <a:cs typeface="Oswald Bold"/>
                <a:sym typeface="Oswald Bold"/>
              </a:rPr>
              <a:t>SMARTDOC AI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13597698" y="-1769921"/>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3108709" y="7013575"/>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187926" y="3362633"/>
            <a:ext cx="2350897" cy="5895667"/>
          </a:xfrm>
          <a:custGeom>
            <a:avLst/>
            <a:gdLst/>
            <a:ahLst/>
            <a:cxnLst/>
            <a:rect r="r" b="b" t="t" l="l"/>
            <a:pathLst>
              <a:path h="5895667" w="2350897">
                <a:moveTo>
                  <a:pt x="0" y="0"/>
                </a:moveTo>
                <a:lnTo>
                  <a:pt x="2350897" y="0"/>
                </a:lnTo>
                <a:lnTo>
                  <a:pt x="2350897" y="5895667"/>
                </a:lnTo>
                <a:lnTo>
                  <a:pt x="0" y="5895667"/>
                </a:lnTo>
                <a:lnTo>
                  <a:pt x="0" y="0"/>
                </a:lnTo>
                <a:close/>
              </a:path>
            </a:pathLst>
          </a:custGeom>
          <a:blipFill>
            <a:blip r:embed="rId4"/>
            <a:stretch>
              <a:fillRect l="0" t="0" r="0" b="0"/>
            </a:stretch>
          </a:blipFill>
        </p:spPr>
      </p:sp>
      <p:sp>
        <p:nvSpPr>
          <p:cNvPr name="TextBox 5" id="5"/>
          <p:cNvSpPr txBox="true"/>
          <p:nvPr/>
        </p:nvSpPr>
        <p:spPr>
          <a:xfrm rot="0">
            <a:off x="1230813" y="2633637"/>
            <a:ext cx="13249992" cy="5044549"/>
          </a:xfrm>
          <a:prstGeom prst="rect">
            <a:avLst/>
          </a:prstGeom>
        </p:spPr>
        <p:txBody>
          <a:bodyPr anchor="t" rtlCol="false" tIns="0" lIns="0" bIns="0" rIns="0">
            <a:spAutoFit/>
          </a:bodyPr>
          <a:lstStyle/>
          <a:p>
            <a:pPr algn="just">
              <a:lnSpc>
                <a:spcPts val="5042"/>
              </a:lnSpc>
              <a:spcBef>
                <a:spcPct val="0"/>
              </a:spcBef>
            </a:pPr>
            <a:r>
              <a:rPr lang="en-US" sz="3601">
                <a:solidFill>
                  <a:srgbClr val="000000"/>
                </a:solidFill>
                <a:latin typeface="Poppins"/>
                <a:ea typeface="Poppins"/>
                <a:cs typeface="Poppins"/>
                <a:sym typeface="Poppins"/>
              </a:rPr>
              <a:t>Retrieval-augmented Generation (RAG) là một phương pháp trong </a:t>
            </a:r>
            <a:r>
              <a:rPr lang="en-US" sz="3601">
                <a:solidFill>
                  <a:srgbClr val="000000"/>
                </a:solidFill>
                <a:latin typeface="Poppins"/>
                <a:ea typeface="Poppins"/>
                <a:cs typeface="Poppins"/>
                <a:sym typeface="Poppins"/>
                <a:hlinkClick r:id="rId5" tooltip="https://vnptai.io/vi/blog/detail/tri-tue-nhan-tao-ai-la-gi"/>
              </a:rPr>
              <a:t>trí tuệ nhân tạo</a:t>
            </a:r>
            <a:r>
              <a:rPr lang="en-US" sz="3601">
                <a:solidFill>
                  <a:srgbClr val="000000"/>
                </a:solidFill>
                <a:latin typeface="Poppins"/>
                <a:ea typeface="Poppins"/>
                <a:cs typeface="Poppins"/>
                <a:sym typeface="Poppins"/>
              </a:rPr>
              <a:t>, kết hợp giữa hai thành phần chính: </a:t>
            </a:r>
            <a:r>
              <a:rPr lang="en-US" sz="3601">
                <a:solidFill>
                  <a:srgbClr val="000000"/>
                </a:solidFill>
                <a:latin typeface="Poppins"/>
                <a:ea typeface="Poppins"/>
                <a:cs typeface="Poppins"/>
                <a:sym typeface="Poppins"/>
                <a:hlinkClick r:id="rId6" tooltip="https://vnptai.io/vi/blog/detail/llm-la-gi"/>
              </a:rPr>
              <a:t>mô hình</a:t>
            </a:r>
            <a:r>
              <a:rPr lang="en-US" sz="3601">
                <a:solidFill>
                  <a:srgbClr val="000000"/>
                </a:solidFill>
                <a:latin typeface="Poppins"/>
                <a:ea typeface="Poppins"/>
                <a:cs typeface="Poppins"/>
                <a:sym typeface="Poppins"/>
                <a:hlinkClick r:id="rId7" tooltip="https://vnptai.io/vi/blog/detail/llm-la-gi"/>
              </a:rPr>
              <a:t> ngôn ngữ lớn (Large Language Model - LLM)</a:t>
            </a:r>
            <a:r>
              <a:rPr lang="en-US" sz="3601">
                <a:solidFill>
                  <a:srgbClr val="000000"/>
                </a:solidFill>
                <a:latin typeface="Poppins"/>
                <a:ea typeface="Poppins"/>
                <a:cs typeface="Poppins"/>
                <a:sym typeface="Poppins"/>
              </a:rPr>
              <a:t> và cơ chế truy xuất dữ liệu từ kho tri thức bên ngoài. RAG được thiết kế nhằm khắc phục hạn chế của các mô hình ngôn ngữ khi chúng chỉ dựa trên dữ liệu đã được huấn luyện sẵn, dễ dẫn đến hiện tượng “ảo tưởng thông tin” (hallucination).</a:t>
            </a:r>
          </a:p>
        </p:txBody>
      </p:sp>
      <p:sp>
        <p:nvSpPr>
          <p:cNvPr name="TextBox 6" id="6"/>
          <p:cNvSpPr txBox="true"/>
          <p:nvPr/>
        </p:nvSpPr>
        <p:spPr>
          <a:xfrm rot="0">
            <a:off x="1230813" y="1161886"/>
            <a:ext cx="7913187" cy="1033781"/>
          </a:xfrm>
          <a:prstGeom prst="rect">
            <a:avLst/>
          </a:prstGeom>
        </p:spPr>
        <p:txBody>
          <a:bodyPr anchor="t" rtlCol="false" tIns="0" lIns="0" bIns="0" rIns="0">
            <a:spAutoFit/>
          </a:bodyPr>
          <a:lstStyle/>
          <a:p>
            <a:pPr algn="l">
              <a:lnSpc>
                <a:spcPts val="7760"/>
              </a:lnSpc>
            </a:pPr>
            <a:r>
              <a:rPr lang="en-US" sz="8000" b="true">
                <a:solidFill>
                  <a:srgbClr val="000000"/>
                </a:solidFill>
                <a:latin typeface="Oswald Bold"/>
                <a:ea typeface="Oswald Bold"/>
                <a:cs typeface="Oswald Bold"/>
                <a:sym typeface="Oswald Bold"/>
              </a:rPr>
              <a:t>RAG LÀ GÌ?</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4695454" y="6826250"/>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80009" y="-1519728"/>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36162" y="4455196"/>
            <a:ext cx="13018550" cy="1331347"/>
          </a:xfrm>
          <a:prstGeom prst="rect">
            <a:avLst/>
          </a:prstGeom>
        </p:spPr>
        <p:txBody>
          <a:bodyPr anchor="t" rtlCol="false" tIns="0" lIns="0" bIns="0" rIns="0">
            <a:spAutoFit/>
          </a:bodyPr>
          <a:lstStyle/>
          <a:p>
            <a:pPr algn="just">
              <a:lnSpc>
                <a:spcPts val="9904"/>
              </a:lnSpc>
            </a:pPr>
            <a:r>
              <a:rPr lang="en-US" b="true" sz="10210">
                <a:solidFill>
                  <a:srgbClr val="000000"/>
                </a:solidFill>
                <a:latin typeface="Oswald Bold"/>
                <a:ea typeface="Oswald Bold"/>
                <a:cs typeface="Oswald Bold"/>
                <a:sym typeface="Oswald Bold"/>
              </a:rPr>
              <a:t>KIẾN TRÚC TỔNG QUAN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249896" y="0"/>
            <a:ext cx="17788208" cy="10287000"/>
          </a:xfrm>
          <a:custGeom>
            <a:avLst/>
            <a:gdLst/>
            <a:ahLst/>
            <a:cxnLst/>
            <a:rect r="r" b="b" t="t" l="l"/>
            <a:pathLst>
              <a:path h="10287000" w="17788208">
                <a:moveTo>
                  <a:pt x="0" y="0"/>
                </a:moveTo>
                <a:lnTo>
                  <a:pt x="17788208" y="0"/>
                </a:lnTo>
                <a:lnTo>
                  <a:pt x="17788208" y="10287000"/>
                </a:lnTo>
                <a:lnTo>
                  <a:pt x="0" y="10287000"/>
                </a:lnTo>
                <a:lnTo>
                  <a:pt x="0" y="0"/>
                </a:lnTo>
                <a:close/>
              </a:path>
            </a:pathLst>
          </a:custGeom>
          <a:blipFill>
            <a:blip r:embed="rId2"/>
            <a:stretch>
              <a:fillRect l="0" t="-11675" r="0" b="-3532"/>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4695454" y="6826250"/>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098764" y="4427638"/>
            <a:ext cx="8768210" cy="1142868"/>
          </a:xfrm>
          <a:prstGeom prst="rect">
            <a:avLst/>
          </a:prstGeom>
        </p:spPr>
        <p:txBody>
          <a:bodyPr anchor="t" rtlCol="false" tIns="0" lIns="0" bIns="0" rIns="0">
            <a:spAutoFit/>
          </a:bodyPr>
          <a:lstStyle/>
          <a:p>
            <a:pPr algn="just">
              <a:lnSpc>
                <a:spcPts val="8535"/>
              </a:lnSpc>
            </a:pPr>
            <a:r>
              <a:rPr lang="en-US" b="true" sz="8799">
                <a:solidFill>
                  <a:srgbClr val="000000"/>
                </a:solidFill>
                <a:latin typeface="Oswald Bold"/>
                <a:ea typeface="Oswald Bold"/>
                <a:cs typeface="Oswald Bold"/>
                <a:sym typeface="Oswald Bold"/>
              </a:rPr>
              <a:t>TỔNG QUAN DỰ ÁN</a:t>
            </a:r>
          </a:p>
        </p:txBody>
      </p:sp>
      <p:sp>
        <p:nvSpPr>
          <p:cNvPr name="Freeform 4" id="4"/>
          <p:cNvSpPr/>
          <p:nvPr/>
        </p:nvSpPr>
        <p:spPr>
          <a:xfrm flipH="false" flipV="false" rot="0">
            <a:off x="-2080009" y="-1519728"/>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5694" y="620972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08776" y="-398708"/>
            <a:ext cx="7315200" cy="2565737"/>
          </a:xfrm>
          <a:custGeom>
            <a:avLst/>
            <a:gdLst/>
            <a:ahLst/>
            <a:cxnLst/>
            <a:rect r="r" b="b" t="t" l="l"/>
            <a:pathLst>
              <a:path h="2565737" w="7315200">
                <a:moveTo>
                  <a:pt x="0" y="0"/>
                </a:moveTo>
                <a:lnTo>
                  <a:pt x="7315200" y="0"/>
                </a:lnTo>
                <a:lnTo>
                  <a:pt x="7315200" y="2565736"/>
                </a:lnTo>
                <a:lnTo>
                  <a:pt x="0" y="2565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11190" y="255654"/>
            <a:ext cx="4545137" cy="628506"/>
          </a:xfrm>
          <a:prstGeom prst="rect">
            <a:avLst/>
          </a:prstGeom>
        </p:spPr>
        <p:txBody>
          <a:bodyPr anchor="t" rtlCol="false" tIns="0" lIns="0" bIns="0" rIns="0">
            <a:spAutoFit/>
          </a:bodyPr>
          <a:lstStyle/>
          <a:p>
            <a:pPr algn="ctr" marL="0" indent="0" lvl="0">
              <a:lnSpc>
                <a:spcPts val="5165"/>
              </a:lnSpc>
              <a:spcBef>
                <a:spcPct val="0"/>
              </a:spcBef>
            </a:pPr>
            <a:r>
              <a:rPr lang="en-US" b="true" sz="3689">
                <a:solidFill>
                  <a:srgbClr val="000000"/>
                </a:solidFill>
                <a:latin typeface="Noto Sans Bold"/>
                <a:ea typeface="Noto Sans Bold"/>
                <a:cs typeface="Noto Sans Bold"/>
                <a:sym typeface="Noto Sans Bold"/>
              </a:rPr>
              <a:t>Công nghệ sử dụng</a:t>
            </a:r>
          </a:p>
        </p:txBody>
      </p:sp>
      <p:sp>
        <p:nvSpPr>
          <p:cNvPr name="TextBox 5" id="5"/>
          <p:cNvSpPr txBox="true"/>
          <p:nvPr/>
        </p:nvSpPr>
        <p:spPr>
          <a:xfrm rot="0">
            <a:off x="1248981" y="2023258"/>
            <a:ext cx="12747427" cy="2980690"/>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Noto Sans"/>
                <a:ea typeface="Noto Sans"/>
                <a:cs typeface="Noto Sans"/>
                <a:sym typeface="Noto Sans"/>
              </a:rPr>
              <a:t>1. Mô hìn</a:t>
            </a:r>
            <a:r>
              <a:rPr lang="en-US" sz="3399" strike="noStrike" u="none">
                <a:solidFill>
                  <a:srgbClr val="000000"/>
                </a:solidFill>
                <a:latin typeface="Noto Sans"/>
                <a:ea typeface="Noto Sans"/>
                <a:cs typeface="Noto Sans"/>
                <a:sym typeface="Noto Sans"/>
              </a:rPr>
              <a:t>h</a:t>
            </a:r>
            <a:r>
              <a:rPr lang="en-US" sz="3399" strike="noStrike" u="none">
                <a:solidFill>
                  <a:srgbClr val="000000"/>
                </a:solidFill>
                <a:latin typeface="Noto Sans"/>
                <a:ea typeface="Noto Sans"/>
                <a:cs typeface="Noto Sans"/>
                <a:sym typeface="Noto Sans"/>
              </a:rPr>
              <a:t> &amp;</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AI</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LLM: Qwe</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2.5:7B (chạy cục b</a:t>
            </a:r>
            <a:r>
              <a:rPr lang="en-US" sz="3399" strike="noStrike" u="none">
                <a:solidFill>
                  <a:srgbClr val="000000"/>
                </a:solidFill>
                <a:latin typeface="Noto Sans"/>
                <a:ea typeface="Noto Sans"/>
                <a:cs typeface="Noto Sans"/>
                <a:sym typeface="Noto Sans"/>
              </a:rPr>
              <a:t>ộ</a:t>
            </a:r>
            <a:r>
              <a:rPr lang="en-US" sz="3399" strike="noStrike" u="none">
                <a:solidFill>
                  <a:srgbClr val="000000"/>
                </a:solidFill>
                <a:latin typeface="Noto Sans"/>
                <a:ea typeface="Noto Sans"/>
                <a:cs typeface="Noto Sans"/>
                <a:sym typeface="Noto Sans"/>
              </a:rPr>
              <a:t> qua Ollama)</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Embedd</a:t>
            </a:r>
            <a:r>
              <a:rPr lang="en-US" sz="3399" strike="noStrike" u="none">
                <a:solidFill>
                  <a:srgbClr val="000000"/>
                </a:solidFill>
                <a:latin typeface="Noto Sans"/>
                <a:ea typeface="Noto Sans"/>
                <a:cs typeface="Noto Sans"/>
                <a:sym typeface="Noto Sans"/>
              </a:rPr>
              <a:t>i</a:t>
            </a:r>
            <a:r>
              <a:rPr lang="en-US" sz="3399" strike="noStrike" u="none">
                <a:solidFill>
                  <a:srgbClr val="000000"/>
                </a:solidFill>
                <a:latin typeface="Noto Sans"/>
                <a:ea typeface="Noto Sans"/>
                <a:cs typeface="Noto Sans"/>
                <a:sym typeface="Noto Sans"/>
              </a:rPr>
              <a:t>ng</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Mo</a:t>
            </a:r>
            <a:r>
              <a:rPr lang="en-US" sz="3399" strike="noStrike" u="none">
                <a:solidFill>
                  <a:srgbClr val="000000"/>
                </a:solidFill>
                <a:latin typeface="Noto Sans"/>
                <a:ea typeface="Noto Sans"/>
                <a:cs typeface="Noto Sans"/>
                <a:sym typeface="Noto Sans"/>
              </a:rPr>
              <a:t>d</a:t>
            </a:r>
            <a:r>
              <a:rPr lang="en-US" sz="3399" strike="noStrike" u="none">
                <a:solidFill>
                  <a:srgbClr val="000000"/>
                </a:solidFill>
                <a:latin typeface="Noto Sans"/>
                <a:ea typeface="Noto Sans"/>
                <a:cs typeface="Noto Sans"/>
                <a:sym typeface="Noto Sans"/>
              </a:rPr>
              <a:t>el: paraphrase-m</a:t>
            </a:r>
            <a:r>
              <a:rPr lang="en-US" sz="3399" strike="noStrike" u="none">
                <a:solidFill>
                  <a:srgbClr val="000000"/>
                </a:solidFill>
                <a:latin typeface="Noto Sans"/>
                <a:ea typeface="Noto Sans"/>
                <a:cs typeface="Noto Sans"/>
                <a:sym typeface="Noto Sans"/>
              </a:rPr>
              <a:t>u</a:t>
            </a:r>
            <a:r>
              <a:rPr lang="en-US" sz="3399" strike="noStrike" u="none">
                <a:solidFill>
                  <a:srgbClr val="000000"/>
                </a:solidFill>
                <a:latin typeface="Noto Sans"/>
                <a:ea typeface="Noto Sans"/>
                <a:cs typeface="Noto Sans"/>
                <a:sym typeface="Noto Sans"/>
              </a:rPr>
              <a:t>ltili</a:t>
            </a:r>
            <a:r>
              <a:rPr lang="en-US" sz="3399" strike="noStrike" u="none">
                <a:solidFill>
                  <a:srgbClr val="000000"/>
                </a:solidFill>
                <a:latin typeface="Noto Sans"/>
                <a:ea typeface="Noto Sans"/>
                <a:cs typeface="Noto Sans"/>
                <a:sym typeface="Noto Sans"/>
              </a:rPr>
              <a:t>ng</a:t>
            </a:r>
            <a:r>
              <a:rPr lang="en-US" sz="3399" strike="noStrike" u="none">
                <a:solidFill>
                  <a:srgbClr val="000000"/>
                </a:solidFill>
                <a:latin typeface="Noto Sans"/>
                <a:ea typeface="Noto Sans"/>
                <a:cs typeface="Noto Sans"/>
                <a:sym typeface="Noto Sans"/>
              </a:rPr>
              <a:t>ual-mpnet-base-</a:t>
            </a:r>
            <a:r>
              <a:rPr lang="en-US" sz="3399" strike="noStrike" u="none">
                <a:solidFill>
                  <a:srgbClr val="000000"/>
                </a:solidFill>
                <a:latin typeface="Noto Sans"/>
                <a:ea typeface="Noto Sans"/>
                <a:cs typeface="Noto Sans"/>
                <a:sym typeface="Noto Sans"/>
              </a:rPr>
              <a:t>v</a:t>
            </a:r>
            <a:r>
              <a:rPr lang="en-US" sz="3399" strike="noStrike" u="none">
                <a:solidFill>
                  <a:srgbClr val="000000"/>
                </a:solidFill>
                <a:latin typeface="Noto Sans"/>
                <a:ea typeface="Noto Sans"/>
                <a:cs typeface="Noto Sans"/>
                <a:sym typeface="Noto Sans"/>
              </a:rPr>
              <a:t>2</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Rera</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ker:</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cross-e</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coder/ms-marco-MiniLM-L-6-v2</a:t>
            </a:r>
          </a:p>
          <a:p>
            <a:pPr algn="l" marL="0" indent="0" lvl="0">
              <a:lnSpc>
                <a:spcPts val="4759"/>
              </a:lnSpc>
              <a:spcBef>
                <a:spcPct val="0"/>
              </a:spcBef>
            </a:pPr>
          </a:p>
        </p:txBody>
      </p:sp>
      <p:sp>
        <p:nvSpPr>
          <p:cNvPr name="TextBox 6" id="6"/>
          <p:cNvSpPr txBox="true"/>
          <p:nvPr/>
        </p:nvSpPr>
        <p:spPr>
          <a:xfrm rot="0">
            <a:off x="6561653" y="5671986"/>
            <a:ext cx="10697647" cy="4180840"/>
          </a:xfrm>
          <a:prstGeom prst="rect">
            <a:avLst/>
          </a:prstGeom>
        </p:spPr>
        <p:txBody>
          <a:bodyPr anchor="t" rtlCol="false" tIns="0" lIns="0" bIns="0" rIns="0">
            <a:spAutoFit/>
          </a:bodyPr>
          <a:lstStyle/>
          <a:p>
            <a:pPr algn="l">
              <a:lnSpc>
                <a:spcPts val="4759"/>
              </a:lnSpc>
            </a:pPr>
            <a:r>
              <a:rPr lang="en-US" sz="3399">
                <a:solidFill>
                  <a:srgbClr val="000000"/>
                </a:solidFill>
                <a:latin typeface="Noto Sans"/>
                <a:ea typeface="Noto Sans"/>
                <a:cs typeface="Noto Sans"/>
                <a:sym typeface="Noto Sans"/>
              </a:rPr>
              <a:t>2. Xử lý &amp; Pipeline</a:t>
            </a:r>
          </a:p>
          <a:p>
            <a:pPr algn="l" marL="734059" indent="-367030" lvl="1">
              <a:lnSpc>
                <a:spcPts val="4759"/>
              </a:lnSpc>
              <a:spcBef>
                <a:spcPct val="0"/>
              </a:spcBef>
              <a:buFont typeface="Arial"/>
              <a:buChar char="•"/>
            </a:pPr>
            <a:r>
              <a:rPr lang="en-US" sz="3399">
                <a:solidFill>
                  <a:srgbClr val="000000"/>
                </a:solidFill>
                <a:latin typeface="Noto Sans"/>
                <a:ea typeface="Noto Sans"/>
                <a:cs typeface="Noto Sans"/>
                <a:sym typeface="Noto Sans"/>
              </a:rPr>
              <a:t>Fra</a:t>
            </a:r>
            <a:r>
              <a:rPr lang="en-US" sz="3399" strike="noStrike" u="none">
                <a:solidFill>
                  <a:srgbClr val="000000"/>
                </a:solidFill>
                <a:latin typeface="Noto Sans"/>
                <a:ea typeface="Noto Sans"/>
                <a:cs typeface="Noto Sans"/>
                <a:sym typeface="Noto Sans"/>
              </a:rPr>
              <a:t>m</a:t>
            </a:r>
            <a:r>
              <a:rPr lang="en-US" sz="3399" strike="noStrike" u="none">
                <a:solidFill>
                  <a:srgbClr val="000000"/>
                </a:solidFill>
                <a:latin typeface="Noto Sans"/>
                <a:ea typeface="Noto Sans"/>
                <a:cs typeface="Noto Sans"/>
                <a:sym typeface="Noto Sans"/>
              </a:rPr>
              <a:t>ework:</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La</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gCha</a:t>
            </a:r>
            <a:r>
              <a:rPr lang="en-US" sz="3399" strike="noStrike" u="none">
                <a:solidFill>
                  <a:srgbClr val="000000"/>
                </a:solidFill>
                <a:latin typeface="Noto Sans"/>
                <a:ea typeface="Noto Sans"/>
                <a:cs typeface="Noto Sans"/>
                <a:sym typeface="Noto Sans"/>
              </a:rPr>
              <a:t>i</a:t>
            </a:r>
            <a:r>
              <a:rPr lang="en-US" sz="3399" strike="noStrike" u="none">
                <a:solidFill>
                  <a:srgbClr val="000000"/>
                </a:solidFill>
                <a:latin typeface="Noto Sans"/>
                <a:ea typeface="Noto Sans"/>
                <a:cs typeface="Noto Sans"/>
                <a:sym typeface="Noto Sans"/>
              </a:rPr>
              <a:t>n (xây</a:t>
            </a:r>
            <a:r>
              <a:rPr lang="en-US" sz="3399" strike="noStrike" u="none">
                <a:solidFill>
                  <a:srgbClr val="000000"/>
                </a:solidFill>
                <a:latin typeface="Noto Sans"/>
                <a:ea typeface="Noto Sans"/>
                <a:cs typeface="Noto Sans"/>
                <a:sym typeface="Noto Sans"/>
              </a:rPr>
              <a:t> d</a:t>
            </a:r>
            <a:r>
              <a:rPr lang="en-US" sz="3399" strike="noStrike" u="none">
                <a:solidFill>
                  <a:srgbClr val="000000"/>
                </a:solidFill>
                <a:latin typeface="Noto Sans"/>
                <a:ea typeface="Noto Sans"/>
                <a:cs typeface="Noto Sans"/>
                <a:sym typeface="Noto Sans"/>
              </a:rPr>
              <a:t>ựng pipeline RAG)</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Kiến trúc: Retrieval-A</a:t>
            </a:r>
            <a:r>
              <a:rPr lang="en-US" sz="3399" strike="noStrike" u="none">
                <a:solidFill>
                  <a:srgbClr val="000000"/>
                </a:solidFill>
                <a:latin typeface="Noto Sans"/>
                <a:ea typeface="Noto Sans"/>
                <a:cs typeface="Noto Sans"/>
                <a:sym typeface="Noto Sans"/>
              </a:rPr>
              <a:t>u</a:t>
            </a:r>
            <a:r>
              <a:rPr lang="en-US" sz="3399" strike="noStrike" u="none">
                <a:solidFill>
                  <a:srgbClr val="000000"/>
                </a:solidFill>
                <a:latin typeface="Noto Sans"/>
                <a:ea typeface="Noto Sans"/>
                <a:cs typeface="Noto Sans"/>
                <a:sym typeface="Noto Sans"/>
              </a:rPr>
              <a:t>gmented Generation (RAG)</a:t>
            </a:r>
          </a:p>
          <a:p>
            <a:pPr algn="l" marL="1468119" indent="-489373" lvl="2">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Nâ</a:t>
            </a:r>
            <a:r>
              <a:rPr lang="en-US" sz="3399" strike="noStrike" u="none">
                <a:solidFill>
                  <a:srgbClr val="000000"/>
                </a:solidFill>
                <a:latin typeface="Noto Sans"/>
                <a:ea typeface="Noto Sans"/>
                <a:cs typeface="Noto Sans"/>
                <a:sym typeface="Noto Sans"/>
              </a:rPr>
              <a:t>ng </a:t>
            </a:r>
            <a:r>
              <a:rPr lang="en-US" sz="3399" strike="noStrike" u="none">
                <a:solidFill>
                  <a:srgbClr val="000000"/>
                </a:solidFill>
                <a:latin typeface="Noto Sans"/>
                <a:ea typeface="Noto Sans"/>
                <a:cs typeface="Noto Sans"/>
                <a:sym typeface="Noto Sans"/>
              </a:rPr>
              <a:t>cao: Con</a:t>
            </a:r>
            <a:r>
              <a:rPr lang="en-US" sz="3399" strike="noStrike" u="none">
                <a:solidFill>
                  <a:srgbClr val="000000"/>
                </a:solidFill>
                <a:latin typeface="Noto Sans"/>
                <a:ea typeface="Noto Sans"/>
                <a:cs typeface="Noto Sans"/>
                <a:sym typeface="Noto Sans"/>
              </a:rPr>
              <a:t>v</a:t>
            </a:r>
            <a:r>
              <a:rPr lang="en-US" sz="3399" strike="noStrike" u="none">
                <a:solidFill>
                  <a:srgbClr val="000000"/>
                </a:solidFill>
                <a:latin typeface="Noto Sans"/>
                <a:ea typeface="Noto Sans"/>
                <a:cs typeface="Noto Sans"/>
                <a:sym typeface="Noto Sans"/>
              </a:rPr>
              <a:t>ersatio</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al</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RAG (có memory)</a:t>
            </a:r>
          </a:p>
          <a:p>
            <a:pPr algn="l" marL="1468119" indent="-489373" lvl="2">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Self-RAG (query rewriti</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g + evaluation)</a:t>
            </a:r>
          </a:p>
          <a:p>
            <a:pPr algn="l" marL="1468119" indent="-489373" lvl="2">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Graph RAG (knowledge graph reasoning)</a:t>
            </a:r>
          </a:p>
          <a:p>
            <a:pPr algn="l" marL="0" indent="0" lvl="0">
              <a:lnSpc>
                <a:spcPts val="475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344639" y="640972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08776" y="-398708"/>
            <a:ext cx="7315200" cy="2565737"/>
          </a:xfrm>
          <a:custGeom>
            <a:avLst/>
            <a:gdLst/>
            <a:ahLst/>
            <a:cxnLst/>
            <a:rect r="r" b="b" t="t" l="l"/>
            <a:pathLst>
              <a:path h="2565737" w="7315200">
                <a:moveTo>
                  <a:pt x="0" y="0"/>
                </a:moveTo>
                <a:lnTo>
                  <a:pt x="7315200" y="0"/>
                </a:lnTo>
                <a:lnTo>
                  <a:pt x="7315200" y="2565736"/>
                </a:lnTo>
                <a:lnTo>
                  <a:pt x="0" y="2565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11190" y="255654"/>
            <a:ext cx="4545137" cy="628506"/>
          </a:xfrm>
          <a:prstGeom prst="rect">
            <a:avLst/>
          </a:prstGeom>
        </p:spPr>
        <p:txBody>
          <a:bodyPr anchor="t" rtlCol="false" tIns="0" lIns="0" bIns="0" rIns="0">
            <a:spAutoFit/>
          </a:bodyPr>
          <a:lstStyle/>
          <a:p>
            <a:pPr algn="ctr" marL="0" indent="0" lvl="0">
              <a:lnSpc>
                <a:spcPts val="5165"/>
              </a:lnSpc>
              <a:spcBef>
                <a:spcPct val="0"/>
              </a:spcBef>
            </a:pPr>
            <a:r>
              <a:rPr lang="en-US" b="true" sz="3689">
                <a:solidFill>
                  <a:srgbClr val="000000"/>
                </a:solidFill>
                <a:latin typeface="Noto Sans Bold"/>
                <a:ea typeface="Noto Sans Bold"/>
                <a:cs typeface="Noto Sans Bold"/>
                <a:sym typeface="Noto Sans Bold"/>
              </a:rPr>
              <a:t>Công nghệ sử dụng</a:t>
            </a:r>
          </a:p>
        </p:txBody>
      </p:sp>
      <p:sp>
        <p:nvSpPr>
          <p:cNvPr name="TextBox 5" id="5"/>
          <p:cNvSpPr txBox="true"/>
          <p:nvPr/>
        </p:nvSpPr>
        <p:spPr>
          <a:xfrm rot="0">
            <a:off x="1028700" y="1142134"/>
            <a:ext cx="9078754" cy="3580765"/>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Noto Sans"/>
                <a:ea typeface="Noto Sans"/>
                <a:cs typeface="Noto Sans"/>
                <a:sym typeface="Noto Sans"/>
              </a:rPr>
              <a:t>3. Tìm kiếm</a:t>
            </a:r>
            <a:r>
              <a:rPr lang="en-US" sz="3399" strike="noStrike" u="none">
                <a:solidFill>
                  <a:srgbClr val="000000"/>
                </a:solidFill>
                <a:latin typeface="Noto Sans"/>
                <a:ea typeface="Noto Sans"/>
                <a:cs typeface="Noto Sans"/>
                <a:sym typeface="Noto Sans"/>
              </a:rPr>
              <a:t> &amp; L</a:t>
            </a:r>
            <a:r>
              <a:rPr lang="en-US" sz="3399" strike="noStrike" u="none">
                <a:solidFill>
                  <a:srgbClr val="000000"/>
                </a:solidFill>
                <a:latin typeface="Noto Sans"/>
                <a:ea typeface="Noto Sans"/>
                <a:cs typeface="Noto Sans"/>
                <a:sym typeface="Noto Sans"/>
              </a:rPr>
              <a:t>ưu</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trữ</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V</a:t>
            </a:r>
            <a:r>
              <a:rPr lang="en-US" sz="3399" strike="noStrike" u="none">
                <a:solidFill>
                  <a:srgbClr val="000000"/>
                </a:solidFill>
                <a:latin typeface="Noto Sans"/>
                <a:ea typeface="Noto Sans"/>
                <a:cs typeface="Noto Sans"/>
                <a:sym typeface="Noto Sans"/>
              </a:rPr>
              <a:t>ec</a:t>
            </a:r>
            <a:r>
              <a:rPr lang="en-US" sz="3399" strike="noStrike" u="none">
                <a:solidFill>
                  <a:srgbClr val="000000"/>
                </a:solidFill>
                <a:latin typeface="Noto Sans"/>
                <a:ea typeface="Noto Sans"/>
                <a:cs typeface="Noto Sans"/>
                <a:sym typeface="Noto Sans"/>
              </a:rPr>
              <a:t>tor</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D</a:t>
            </a:r>
            <a:r>
              <a:rPr lang="en-US" sz="3399" strike="noStrike" u="none">
                <a:solidFill>
                  <a:srgbClr val="000000"/>
                </a:solidFill>
                <a:latin typeface="Noto Sans"/>
                <a:ea typeface="Noto Sans"/>
                <a:cs typeface="Noto Sans"/>
                <a:sym typeface="Noto Sans"/>
              </a:rPr>
              <a:t>a</a:t>
            </a:r>
            <a:r>
              <a:rPr lang="en-US" sz="3399" strike="noStrike" u="none">
                <a:solidFill>
                  <a:srgbClr val="000000"/>
                </a:solidFill>
                <a:latin typeface="Noto Sans"/>
                <a:ea typeface="Noto Sans"/>
                <a:cs typeface="Noto Sans"/>
                <a:sym typeface="Noto Sans"/>
              </a:rPr>
              <a:t>t</a:t>
            </a:r>
            <a:r>
              <a:rPr lang="en-US" sz="3399" strike="noStrike" u="none">
                <a:solidFill>
                  <a:srgbClr val="000000"/>
                </a:solidFill>
                <a:latin typeface="Noto Sans"/>
                <a:ea typeface="Noto Sans"/>
                <a:cs typeface="Noto Sans"/>
                <a:sym typeface="Noto Sans"/>
              </a:rPr>
              <a:t>ab</a:t>
            </a:r>
            <a:r>
              <a:rPr lang="en-US" sz="3399" strike="noStrike" u="none">
                <a:solidFill>
                  <a:srgbClr val="000000"/>
                </a:solidFill>
                <a:latin typeface="Noto Sans"/>
                <a:ea typeface="Noto Sans"/>
                <a:cs typeface="Noto Sans"/>
                <a:sym typeface="Noto Sans"/>
              </a:rPr>
              <a:t>as</a:t>
            </a:r>
            <a:r>
              <a:rPr lang="en-US" sz="3399" strike="noStrike" u="none">
                <a:solidFill>
                  <a:srgbClr val="000000"/>
                </a:solidFill>
                <a:latin typeface="Noto Sans"/>
                <a:ea typeface="Noto Sans"/>
                <a:cs typeface="Noto Sans"/>
                <a:sym typeface="Noto Sans"/>
              </a:rPr>
              <a:t>e</a:t>
            </a:r>
            <a:r>
              <a:rPr lang="en-US" sz="3399" strike="noStrike" u="none">
                <a:solidFill>
                  <a:srgbClr val="000000"/>
                </a:solidFill>
                <a:latin typeface="Noto Sans"/>
                <a:ea typeface="Noto Sans"/>
                <a:cs typeface="Noto Sans"/>
                <a:sym typeface="Noto Sans"/>
              </a:rPr>
              <a:t>:</a:t>
            </a:r>
            <a:r>
              <a:rPr lang="en-US" sz="3399" strike="noStrike" u="none">
                <a:solidFill>
                  <a:srgbClr val="000000"/>
                </a:solidFill>
                <a:latin typeface="Noto Sans"/>
                <a:ea typeface="Noto Sans"/>
                <a:cs typeface="Noto Sans"/>
                <a:sym typeface="Noto Sans"/>
              </a:rPr>
              <a:t> FAISS </a:t>
            </a:r>
            <a:r>
              <a:rPr lang="en-US" sz="3399" strike="noStrike" u="none">
                <a:solidFill>
                  <a:srgbClr val="000000"/>
                </a:solidFill>
                <a:latin typeface="Noto Sans"/>
                <a:ea typeface="Noto Sans"/>
                <a:cs typeface="Noto Sans"/>
                <a:sym typeface="Noto Sans"/>
              </a:rPr>
              <a:t>(</a:t>
            </a:r>
            <a:r>
              <a:rPr lang="en-US" sz="3399" strike="noStrike" u="none">
                <a:solidFill>
                  <a:srgbClr val="000000"/>
                </a:solidFill>
                <a:latin typeface="Noto Sans"/>
                <a:ea typeface="Noto Sans"/>
                <a:cs typeface="Noto Sans"/>
                <a:sym typeface="Noto Sans"/>
              </a:rPr>
              <a:t>semant</a:t>
            </a:r>
            <a:r>
              <a:rPr lang="en-US" sz="3399" strike="noStrike" u="none">
                <a:solidFill>
                  <a:srgbClr val="000000"/>
                </a:solidFill>
                <a:latin typeface="Noto Sans"/>
                <a:ea typeface="Noto Sans"/>
                <a:cs typeface="Noto Sans"/>
                <a:sym typeface="Noto Sans"/>
              </a:rPr>
              <a:t>ic </a:t>
            </a:r>
            <a:r>
              <a:rPr lang="en-US" sz="3399" strike="noStrike" u="none">
                <a:solidFill>
                  <a:srgbClr val="000000"/>
                </a:solidFill>
                <a:latin typeface="Noto Sans"/>
                <a:ea typeface="Noto Sans"/>
                <a:cs typeface="Noto Sans"/>
                <a:sym typeface="Noto Sans"/>
              </a:rPr>
              <a:t>se</a:t>
            </a:r>
            <a:r>
              <a:rPr lang="en-US" sz="3399" strike="noStrike" u="none">
                <a:solidFill>
                  <a:srgbClr val="000000"/>
                </a:solidFill>
                <a:latin typeface="Noto Sans"/>
                <a:ea typeface="Noto Sans"/>
                <a:cs typeface="Noto Sans"/>
                <a:sym typeface="Noto Sans"/>
              </a:rPr>
              <a:t>arch)</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K</a:t>
            </a:r>
            <a:r>
              <a:rPr lang="en-US" sz="3399" strike="noStrike" u="none">
                <a:solidFill>
                  <a:srgbClr val="000000"/>
                </a:solidFill>
                <a:latin typeface="Noto Sans"/>
                <a:ea typeface="Noto Sans"/>
                <a:cs typeface="Noto Sans"/>
                <a:sym typeface="Noto Sans"/>
              </a:rPr>
              <a:t>e</a:t>
            </a:r>
            <a:r>
              <a:rPr lang="en-US" sz="3399" strike="noStrike" u="none">
                <a:solidFill>
                  <a:srgbClr val="000000"/>
                </a:solidFill>
                <a:latin typeface="Noto Sans"/>
                <a:ea typeface="Noto Sans"/>
                <a:cs typeface="Noto Sans"/>
                <a:sym typeface="Noto Sans"/>
              </a:rPr>
              <a:t>ywo</a:t>
            </a:r>
            <a:r>
              <a:rPr lang="en-US" sz="3399" strike="noStrike" u="none">
                <a:solidFill>
                  <a:srgbClr val="000000"/>
                </a:solidFill>
                <a:latin typeface="Noto Sans"/>
                <a:ea typeface="Noto Sans"/>
                <a:cs typeface="Noto Sans"/>
                <a:sym typeface="Noto Sans"/>
              </a:rPr>
              <a:t>r</a:t>
            </a:r>
            <a:r>
              <a:rPr lang="en-US" sz="3399" strike="noStrike" u="none">
                <a:solidFill>
                  <a:srgbClr val="000000"/>
                </a:solidFill>
                <a:latin typeface="Noto Sans"/>
                <a:ea typeface="Noto Sans"/>
                <a:cs typeface="Noto Sans"/>
                <a:sym typeface="Noto Sans"/>
              </a:rPr>
              <a:t>d Se</a:t>
            </a:r>
            <a:r>
              <a:rPr lang="en-US" sz="3399" strike="noStrike" u="none">
                <a:solidFill>
                  <a:srgbClr val="000000"/>
                </a:solidFill>
                <a:latin typeface="Noto Sans"/>
                <a:ea typeface="Noto Sans"/>
                <a:cs typeface="Noto Sans"/>
                <a:sym typeface="Noto Sans"/>
              </a:rPr>
              <a:t>ar</a:t>
            </a:r>
            <a:r>
              <a:rPr lang="en-US" sz="3399" strike="noStrike" u="none">
                <a:solidFill>
                  <a:srgbClr val="000000"/>
                </a:solidFill>
                <a:latin typeface="Noto Sans"/>
                <a:ea typeface="Noto Sans"/>
                <a:cs typeface="Noto Sans"/>
                <a:sym typeface="Noto Sans"/>
              </a:rPr>
              <a:t>ch</a:t>
            </a:r>
            <a:r>
              <a:rPr lang="en-US" sz="3399" strike="noStrike" u="none">
                <a:solidFill>
                  <a:srgbClr val="000000"/>
                </a:solidFill>
                <a:latin typeface="Noto Sans"/>
                <a:ea typeface="Noto Sans"/>
                <a:cs typeface="Noto Sans"/>
                <a:sym typeface="Noto Sans"/>
              </a:rPr>
              <a:t>: BM25</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Hybr</a:t>
            </a:r>
            <a:r>
              <a:rPr lang="en-US" sz="3399" strike="noStrike" u="none">
                <a:solidFill>
                  <a:srgbClr val="000000"/>
                </a:solidFill>
                <a:latin typeface="Noto Sans"/>
                <a:ea typeface="Noto Sans"/>
                <a:cs typeface="Noto Sans"/>
                <a:sym typeface="Noto Sans"/>
              </a:rPr>
              <a:t>id S</a:t>
            </a:r>
            <a:r>
              <a:rPr lang="en-US" sz="3399" strike="noStrike" u="none">
                <a:solidFill>
                  <a:srgbClr val="000000"/>
                </a:solidFill>
                <a:latin typeface="Noto Sans"/>
                <a:ea typeface="Noto Sans"/>
                <a:cs typeface="Noto Sans"/>
                <a:sym typeface="Noto Sans"/>
              </a:rPr>
              <a:t>e</a:t>
            </a:r>
            <a:r>
              <a:rPr lang="en-US" sz="3399" strike="noStrike" u="none">
                <a:solidFill>
                  <a:srgbClr val="000000"/>
                </a:solidFill>
                <a:latin typeface="Noto Sans"/>
                <a:ea typeface="Noto Sans"/>
                <a:cs typeface="Noto Sans"/>
                <a:sym typeface="Noto Sans"/>
              </a:rPr>
              <a:t>ar</a:t>
            </a:r>
            <a:r>
              <a:rPr lang="en-US" sz="3399" strike="noStrike" u="none">
                <a:solidFill>
                  <a:srgbClr val="000000"/>
                </a:solidFill>
                <a:latin typeface="Noto Sans"/>
                <a:ea typeface="Noto Sans"/>
                <a:cs typeface="Noto Sans"/>
                <a:sym typeface="Noto Sans"/>
              </a:rPr>
              <a:t>c</a:t>
            </a:r>
            <a:r>
              <a:rPr lang="en-US" sz="3399" strike="noStrike" u="none">
                <a:solidFill>
                  <a:srgbClr val="000000"/>
                </a:solidFill>
                <a:latin typeface="Noto Sans"/>
                <a:ea typeface="Noto Sans"/>
                <a:cs typeface="Noto Sans"/>
                <a:sym typeface="Noto Sans"/>
              </a:rPr>
              <a:t>h: BM25 + FAISS</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Kn</a:t>
            </a:r>
            <a:r>
              <a:rPr lang="en-US" sz="3399" strike="noStrike" u="none">
                <a:solidFill>
                  <a:srgbClr val="000000"/>
                </a:solidFill>
                <a:latin typeface="Noto Sans"/>
                <a:ea typeface="Noto Sans"/>
                <a:cs typeface="Noto Sans"/>
                <a:sym typeface="Noto Sans"/>
              </a:rPr>
              <a:t>o</a:t>
            </a:r>
            <a:r>
              <a:rPr lang="en-US" sz="3399" strike="noStrike" u="none">
                <a:solidFill>
                  <a:srgbClr val="000000"/>
                </a:solidFill>
                <a:latin typeface="Noto Sans"/>
                <a:ea typeface="Noto Sans"/>
                <a:cs typeface="Noto Sans"/>
                <a:sym typeface="Noto Sans"/>
              </a:rPr>
              <a:t>wle</a:t>
            </a:r>
            <a:r>
              <a:rPr lang="en-US" sz="3399" strike="noStrike" u="none">
                <a:solidFill>
                  <a:srgbClr val="000000"/>
                </a:solidFill>
                <a:latin typeface="Noto Sans"/>
                <a:ea typeface="Noto Sans"/>
                <a:cs typeface="Noto Sans"/>
                <a:sym typeface="Noto Sans"/>
              </a:rPr>
              <a:t>d</a:t>
            </a:r>
            <a:r>
              <a:rPr lang="en-US" sz="3399" strike="noStrike" u="none">
                <a:solidFill>
                  <a:srgbClr val="000000"/>
                </a:solidFill>
                <a:latin typeface="Noto Sans"/>
                <a:ea typeface="Noto Sans"/>
                <a:cs typeface="Noto Sans"/>
                <a:sym typeface="Noto Sans"/>
              </a:rPr>
              <a:t>g</a:t>
            </a:r>
            <a:r>
              <a:rPr lang="en-US" sz="3399" strike="noStrike" u="none">
                <a:solidFill>
                  <a:srgbClr val="000000"/>
                </a:solidFill>
                <a:latin typeface="Noto Sans"/>
                <a:ea typeface="Noto Sans"/>
                <a:cs typeface="Noto Sans"/>
                <a:sym typeface="Noto Sans"/>
              </a:rPr>
              <a:t>e</a:t>
            </a:r>
            <a:r>
              <a:rPr lang="en-US" sz="3399" strike="noStrike" u="none">
                <a:solidFill>
                  <a:srgbClr val="000000"/>
                </a:solidFill>
                <a:latin typeface="Noto Sans"/>
                <a:ea typeface="Noto Sans"/>
                <a:cs typeface="Noto Sans"/>
                <a:sym typeface="Noto Sans"/>
              </a:rPr>
              <a:t> G</a:t>
            </a:r>
            <a:r>
              <a:rPr lang="en-US" sz="3399" strike="noStrike" u="none">
                <a:solidFill>
                  <a:srgbClr val="000000"/>
                </a:solidFill>
                <a:latin typeface="Noto Sans"/>
                <a:ea typeface="Noto Sans"/>
                <a:cs typeface="Noto Sans"/>
                <a:sym typeface="Noto Sans"/>
              </a:rPr>
              <a:t>ra</a:t>
            </a:r>
            <a:r>
              <a:rPr lang="en-US" sz="3399" strike="noStrike" u="none">
                <a:solidFill>
                  <a:srgbClr val="000000"/>
                </a:solidFill>
                <a:latin typeface="Noto Sans"/>
                <a:ea typeface="Noto Sans"/>
                <a:cs typeface="Noto Sans"/>
                <a:sym typeface="Noto Sans"/>
              </a:rPr>
              <a:t>ph: Netw</a:t>
            </a:r>
            <a:r>
              <a:rPr lang="en-US" sz="3399" strike="noStrike" u="none">
                <a:solidFill>
                  <a:srgbClr val="000000"/>
                </a:solidFill>
                <a:latin typeface="Noto Sans"/>
                <a:ea typeface="Noto Sans"/>
                <a:cs typeface="Noto Sans"/>
                <a:sym typeface="Noto Sans"/>
              </a:rPr>
              <a:t>o</a:t>
            </a:r>
            <a:r>
              <a:rPr lang="en-US" sz="3399" strike="noStrike" u="none">
                <a:solidFill>
                  <a:srgbClr val="000000"/>
                </a:solidFill>
                <a:latin typeface="Noto Sans"/>
                <a:ea typeface="Noto Sans"/>
                <a:cs typeface="Noto Sans"/>
                <a:sym typeface="Noto Sans"/>
              </a:rPr>
              <a:t>rkX</a:t>
            </a:r>
          </a:p>
          <a:p>
            <a:pPr algn="l" marL="0" indent="0" lvl="0">
              <a:lnSpc>
                <a:spcPts val="4759"/>
              </a:lnSpc>
              <a:spcBef>
                <a:spcPct val="0"/>
              </a:spcBef>
            </a:pPr>
          </a:p>
        </p:txBody>
      </p:sp>
      <p:sp>
        <p:nvSpPr>
          <p:cNvPr name="TextBox 6" id="6"/>
          <p:cNvSpPr txBox="true"/>
          <p:nvPr/>
        </p:nvSpPr>
        <p:spPr>
          <a:xfrm rot="0">
            <a:off x="1028700" y="4218131"/>
            <a:ext cx="8792885" cy="2980690"/>
          </a:xfrm>
          <a:prstGeom prst="rect">
            <a:avLst/>
          </a:prstGeom>
        </p:spPr>
        <p:txBody>
          <a:bodyPr anchor="t" rtlCol="false" tIns="0" lIns="0" bIns="0" rIns="0">
            <a:spAutoFit/>
          </a:bodyPr>
          <a:lstStyle/>
          <a:p>
            <a:pPr algn="l">
              <a:lnSpc>
                <a:spcPts val="4759"/>
              </a:lnSpc>
            </a:pPr>
            <a:r>
              <a:rPr lang="en-US" sz="3399">
                <a:solidFill>
                  <a:srgbClr val="000000"/>
                </a:solidFill>
                <a:latin typeface="Noto Sans"/>
                <a:ea typeface="Noto Sans"/>
                <a:cs typeface="Noto Sans"/>
                <a:sym typeface="Noto Sans"/>
              </a:rPr>
              <a:t>4. Dữ liệu &amp; Backend</a:t>
            </a:r>
          </a:p>
          <a:p>
            <a:pPr algn="l" marL="734059" indent="-367030" lvl="1">
              <a:lnSpc>
                <a:spcPts val="4759"/>
              </a:lnSpc>
              <a:spcBef>
                <a:spcPct val="0"/>
              </a:spcBef>
              <a:buFont typeface="Arial"/>
              <a:buChar char="•"/>
            </a:pPr>
            <a:r>
              <a:rPr lang="en-US" sz="3399">
                <a:solidFill>
                  <a:srgbClr val="000000"/>
                </a:solidFill>
                <a:latin typeface="Noto Sans"/>
                <a:ea typeface="Noto Sans"/>
                <a:cs typeface="Noto Sans"/>
                <a:sym typeface="Noto Sans"/>
              </a:rPr>
              <a:t>D</a:t>
            </a:r>
            <a:r>
              <a:rPr lang="en-US" sz="3399">
                <a:solidFill>
                  <a:srgbClr val="000000"/>
                </a:solidFill>
                <a:latin typeface="Noto Sans"/>
                <a:ea typeface="Noto Sans"/>
                <a:cs typeface="Noto Sans"/>
                <a:sym typeface="Noto Sans"/>
              </a:rPr>
              <a:t>atabas</a:t>
            </a:r>
            <a:r>
              <a:rPr lang="en-US" sz="3399" strike="noStrike" u="none">
                <a:solidFill>
                  <a:srgbClr val="000000"/>
                </a:solidFill>
                <a:latin typeface="Noto Sans"/>
                <a:ea typeface="Noto Sans"/>
                <a:cs typeface="Noto Sans"/>
                <a:sym typeface="Noto Sans"/>
              </a:rPr>
              <a:t>e: SQLite (</a:t>
            </a:r>
            <a:r>
              <a:rPr lang="en-US" sz="3399" strike="noStrike" u="none">
                <a:solidFill>
                  <a:srgbClr val="000000"/>
                </a:solidFill>
                <a:latin typeface="Noto Sans"/>
                <a:ea typeface="Noto Sans"/>
                <a:cs typeface="Noto Sans"/>
                <a:sym typeface="Noto Sans"/>
              </a:rPr>
              <a:t>lưu</a:t>
            </a:r>
            <a:r>
              <a:rPr lang="en-US" sz="3399" strike="noStrike" u="none">
                <a:solidFill>
                  <a:srgbClr val="000000"/>
                </a:solidFill>
                <a:latin typeface="Noto Sans"/>
                <a:ea typeface="Noto Sans"/>
                <a:cs typeface="Noto Sans"/>
                <a:sym typeface="Noto Sans"/>
              </a:rPr>
              <a:t> l</a:t>
            </a:r>
            <a:r>
              <a:rPr lang="en-US" sz="3399" strike="noStrike" u="none">
                <a:solidFill>
                  <a:srgbClr val="000000"/>
                </a:solidFill>
                <a:latin typeface="Noto Sans"/>
                <a:ea typeface="Noto Sans"/>
                <a:cs typeface="Noto Sans"/>
                <a:sym typeface="Noto Sans"/>
              </a:rPr>
              <a:t>ịch</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sử hộ</a:t>
            </a:r>
            <a:r>
              <a:rPr lang="en-US" sz="3399" strike="noStrike" u="none">
                <a:solidFill>
                  <a:srgbClr val="000000"/>
                </a:solidFill>
                <a:latin typeface="Noto Sans"/>
                <a:ea typeface="Noto Sans"/>
                <a:cs typeface="Noto Sans"/>
                <a:sym typeface="Noto Sans"/>
              </a:rPr>
              <a:t>i t</a:t>
            </a:r>
            <a:r>
              <a:rPr lang="en-US" sz="3399" strike="noStrike" u="none">
                <a:solidFill>
                  <a:srgbClr val="000000"/>
                </a:solidFill>
                <a:latin typeface="Noto Sans"/>
                <a:ea typeface="Noto Sans"/>
                <a:cs typeface="Noto Sans"/>
                <a:sym typeface="Noto Sans"/>
              </a:rPr>
              <a:t>hoại)</a:t>
            </a:r>
          </a:p>
          <a:p>
            <a:pPr algn="l" marL="1468119" indent="-489373" lvl="2">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Do</a:t>
            </a:r>
            <a:r>
              <a:rPr lang="en-US" sz="3399" strike="noStrike" u="none">
                <a:solidFill>
                  <a:srgbClr val="000000"/>
                </a:solidFill>
                <a:latin typeface="Noto Sans"/>
                <a:ea typeface="Noto Sans"/>
                <a:cs typeface="Noto Sans"/>
                <a:sym typeface="Noto Sans"/>
              </a:rPr>
              <a:t>cument </a:t>
            </a:r>
            <a:r>
              <a:rPr lang="en-US" sz="3399" strike="noStrike" u="none">
                <a:solidFill>
                  <a:srgbClr val="000000"/>
                </a:solidFill>
                <a:latin typeface="Noto Sans"/>
                <a:ea typeface="Noto Sans"/>
                <a:cs typeface="Noto Sans"/>
                <a:sym typeface="Noto Sans"/>
              </a:rPr>
              <a:t>L</a:t>
            </a:r>
            <a:r>
              <a:rPr lang="en-US" sz="3399" strike="noStrike" u="none">
                <a:solidFill>
                  <a:srgbClr val="000000"/>
                </a:solidFill>
                <a:latin typeface="Noto Sans"/>
                <a:ea typeface="Noto Sans"/>
                <a:cs typeface="Noto Sans"/>
                <a:sym typeface="Noto Sans"/>
              </a:rPr>
              <a:t>oa</a:t>
            </a:r>
            <a:r>
              <a:rPr lang="en-US" sz="3399" strike="noStrike" u="none">
                <a:solidFill>
                  <a:srgbClr val="000000"/>
                </a:solidFill>
                <a:latin typeface="Noto Sans"/>
                <a:ea typeface="Noto Sans"/>
                <a:cs typeface="Noto Sans"/>
                <a:sym typeface="Noto Sans"/>
              </a:rPr>
              <a:t>d</a:t>
            </a:r>
            <a:r>
              <a:rPr lang="en-US" sz="3399" strike="noStrike" u="none">
                <a:solidFill>
                  <a:srgbClr val="000000"/>
                </a:solidFill>
                <a:latin typeface="Noto Sans"/>
                <a:ea typeface="Noto Sans"/>
                <a:cs typeface="Noto Sans"/>
                <a:sym typeface="Noto Sans"/>
              </a:rPr>
              <a:t>er</a:t>
            </a:r>
            <a:r>
              <a:rPr lang="en-US" sz="3399" strike="noStrike" u="none">
                <a:solidFill>
                  <a:srgbClr val="000000"/>
                </a:solidFill>
                <a:latin typeface="Noto Sans"/>
                <a:ea typeface="Noto Sans"/>
                <a:cs typeface="Noto Sans"/>
                <a:sym typeface="Noto Sans"/>
              </a:rPr>
              <a:t>:PDF:</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PDFP</a:t>
            </a:r>
            <a:r>
              <a:rPr lang="en-US" sz="3399" strike="noStrike" u="none">
                <a:solidFill>
                  <a:srgbClr val="000000"/>
                </a:solidFill>
                <a:latin typeface="Noto Sans"/>
                <a:ea typeface="Noto Sans"/>
                <a:cs typeface="Noto Sans"/>
                <a:sym typeface="Noto Sans"/>
              </a:rPr>
              <a:t>lu</a:t>
            </a:r>
            <a:r>
              <a:rPr lang="en-US" sz="3399" strike="noStrike" u="none">
                <a:solidFill>
                  <a:srgbClr val="000000"/>
                </a:solidFill>
                <a:latin typeface="Noto Sans"/>
                <a:ea typeface="Noto Sans"/>
                <a:cs typeface="Noto Sans"/>
                <a:sym typeface="Noto Sans"/>
              </a:rPr>
              <a:t>mb</a:t>
            </a:r>
            <a:r>
              <a:rPr lang="en-US" sz="3399" strike="noStrike" u="none">
                <a:solidFill>
                  <a:srgbClr val="000000"/>
                </a:solidFill>
                <a:latin typeface="Noto Sans"/>
                <a:ea typeface="Noto Sans"/>
                <a:cs typeface="Noto Sans"/>
                <a:sym typeface="Noto Sans"/>
              </a:rPr>
              <a:t>er</a:t>
            </a:r>
          </a:p>
          <a:p>
            <a:pPr algn="l" marL="1468119" indent="-489373" lvl="2">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DOCX:</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D</a:t>
            </a:r>
            <a:r>
              <a:rPr lang="en-US" sz="3399" strike="noStrike" u="none">
                <a:solidFill>
                  <a:srgbClr val="000000"/>
                </a:solidFill>
                <a:latin typeface="Noto Sans"/>
                <a:ea typeface="Noto Sans"/>
                <a:cs typeface="Noto Sans"/>
                <a:sym typeface="Noto Sans"/>
              </a:rPr>
              <a:t>o</a:t>
            </a:r>
            <a:r>
              <a:rPr lang="en-US" sz="3399" strike="noStrike" u="none">
                <a:solidFill>
                  <a:srgbClr val="000000"/>
                </a:solidFill>
                <a:latin typeface="Noto Sans"/>
                <a:ea typeface="Noto Sans"/>
                <a:cs typeface="Noto Sans"/>
                <a:sym typeface="Noto Sans"/>
              </a:rPr>
              <a:t>cx2txt</a:t>
            </a:r>
          </a:p>
          <a:p>
            <a:pPr algn="l" marL="0" indent="0" lvl="0">
              <a:lnSpc>
                <a:spcPts val="4759"/>
              </a:lnSpc>
              <a:spcBef>
                <a:spcPct val="0"/>
              </a:spcBef>
            </a:pPr>
          </a:p>
        </p:txBody>
      </p:sp>
      <p:sp>
        <p:nvSpPr>
          <p:cNvPr name="TextBox 7" id="7"/>
          <p:cNvSpPr txBox="true"/>
          <p:nvPr/>
        </p:nvSpPr>
        <p:spPr>
          <a:xfrm rot="0">
            <a:off x="1028700" y="6706235"/>
            <a:ext cx="8083272" cy="3580765"/>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Noto Sans"/>
                <a:ea typeface="Noto Sans"/>
                <a:cs typeface="Noto Sans"/>
                <a:sym typeface="Noto Sans"/>
              </a:rPr>
              <a:t>5. Kỹ t</a:t>
            </a:r>
            <a:r>
              <a:rPr lang="en-US" sz="3399" strike="noStrike" u="none">
                <a:solidFill>
                  <a:srgbClr val="000000"/>
                </a:solidFill>
                <a:latin typeface="Noto Sans"/>
                <a:ea typeface="Noto Sans"/>
                <a:cs typeface="Noto Sans"/>
                <a:sym typeface="Noto Sans"/>
              </a:rPr>
              <a:t>h</a:t>
            </a:r>
            <a:r>
              <a:rPr lang="en-US" sz="3399" strike="noStrike" u="none">
                <a:solidFill>
                  <a:srgbClr val="000000"/>
                </a:solidFill>
                <a:latin typeface="Noto Sans"/>
                <a:ea typeface="Noto Sans"/>
                <a:cs typeface="Noto Sans"/>
                <a:sym typeface="Noto Sans"/>
              </a:rPr>
              <a:t>uật bổ</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su</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g</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Hybrid Search (tăng đ</a:t>
            </a:r>
            <a:r>
              <a:rPr lang="en-US" sz="3399" strike="noStrike" u="none">
                <a:solidFill>
                  <a:srgbClr val="000000"/>
                </a:solidFill>
                <a:latin typeface="Noto Sans"/>
                <a:ea typeface="Noto Sans"/>
                <a:cs typeface="Noto Sans"/>
                <a:sym typeface="Noto Sans"/>
              </a:rPr>
              <a:t>ộ</a:t>
            </a:r>
            <a:r>
              <a:rPr lang="en-US" sz="3399" strike="noStrike" u="none">
                <a:solidFill>
                  <a:srgbClr val="000000"/>
                </a:solidFill>
                <a:latin typeface="Noto Sans"/>
                <a:ea typeface="Noto Sans"/>
                <a:cs typeface="Noto Sans"/>
                <a:sym typeface="Noto Sans"/>
              </a:rPr>
              <a:t> chính xác)</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Cross-Encoder Re-rank</a:t>
            </a:r>
            <a:r>
              <a:rPr lang="en-US" sz="3399" strike="noStrike" u="none">
                <a:solidFill>
                  <a:srgbClr val="000000"/>
                </a:solidFill>
                <a:latin typeface="Noto Sans"/>
                <a:ea typeface="Noto Sans"/>
                <a:cs typeface="Noto Sans"/>
                <a:sym typeface="Noto Sans"/>
              </a:rPr>
              <a:t>i</a:t>
            </a:r>
            <a:r>
              <a:rPr lang="en-US" sz="3399" strike="noStrike" u="none">
                <a:solidFill>
                  <a:srgbClr val="000000"/>
                </a:solidFill>
                <a:latin typeface="Noto Sans"/>
                <a:ea typeface="Noto Sans"/>
                <a:cs typeface="Noto Sans"/>
                <a:sym typeface="Noto Sans"/>
              </a:rPr>
              <a:t>ng</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Metadata</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Filtering (multi-</a:t>
            </a:r>
            <a:r>
              <a:rPr lang="en-US" sz="3399" strike="noStrike" u="none">
                <a:solidFill>
                  <a:srgbClr val="000000"/>
                </a:solidFill>
                <a:latin typeface="Noto Sans"/>
                <a:ea typeface="Noto Sans"/>
                <a:cs typeface="Noto Sans"/>
                <a:sym typeface="Noto Sans"/>
              </a:rPr>
              <a:t>d</a:t>
            </a:r>
            <a:r>
              <a:rPr lang="en-US" sz="3399" strike="noStrike" u="none">
                <a:solidFill>
                  <a:srgbClr val="000000"/>
                </a:solidFill>
                <a:latin typeface="Noto Sans"/>
                <a:ea typeface="Noto Sans"/>
                <a:cs typeface="Noto Sans"/>
                <a:sym typeface="Noto Sans"/>
              </a:rPr>
              <a:t>oc</a:t>
            </a:r>
            <a:r>
              <a:rPr lang="en-US" sz="3399" strike="noStrike" u="none">
                <a:solidFill>
                  <a:srgbClr val="000000"/>
                </a:solidFill>
                <a:latin typeface="Noto Sans"/>
                <a:ea typeface="Noto Sans"/>
                <a:cs typeface="Noto Sans"/>
                <a:sym typeface="Noto Sans"/>
              </a:rPr>
              <a:t>u</a:t>
            </a:r>
            <a:r>
              <a:rPr lang="en-US" sz="3399" strike="noStrike" u="none">
                <a:solidFill>
                  <a:srgbClr val="000000"/>
                </a:solidFill>
                <a:latin typeface="Noto Sans"/>
                <a:ea typeface="Noto Sans"/>
                <a:cs typeface="Noto Sans"/>
                <a:sym typeface="Noto Sans"/>
              </a:rPr>
              <a:t>me</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t)</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Citatio</a:t>
            </a:r>
            <a:r>
              <a:rPr lang="en-US" sz="3399" strike="noStrike" u="none">
                <a:solidFill>
                  <a:srgbClr val="000000"/>
                </a:solidFill>
                <a:latin typeface="Noto Sans"/>
                <a:ea typeface="Noto Sans"/>
                <a:cs typeface="Noto Sans"/>
                <a:sym typeface="Noto Sans"/>
              </a:rPr>
              <a:t>n </a:t>
            </a:r>
            <a:r>
              <a:rPr lang="en-US" sz="3399" strike="noStrike" u="none">
                <a:solidFill>
                  <a:srgbClr val="000000"/>
                </a:solidFill>
                <a:latin typeface="Noto Sans"/>
                <a:ea typeface="Noto Sans"/>
                <a:cs typeface="Noto Sans"/>
                <a:sym typeface="Noto Sans"/>
              </a:rPr>
              <a:t>&amp; Source Tracki</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g</a:t>
            </a:r>
          </a:p>
          <a:p>
            <a:pPr algn="l" marL="0" indent="0" lvl="0">
              <a:lnSpc>
                <a:spcPts val="475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344639" y="640972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08776" y="-398708"/>
            <a:ext cx="7315200" cy="2565737"/>
          </a:xfrm>
          <a:custGeom>
            <a:avLst/>
            <a:gdLst/>
            <a:ahLst/>
            <a:cxnLst/>
            <a:rect r="r" b="b" t="t" l="l"/>
            <a:pathLst>
              <a:path h="2565737" w="7315200">
                <a:moveTo>
                  <a:pt x="0" y="0"/>
                </a:moveTo>
                <a:lnTo>
                  <a:pt x="7315200" y="0"/>
                </a:lnTo>
                <a:lnTo>
                  <a:pt x="7315200" y="2565736"/>
                </a:lnTo>
                <a:lnTo>
                  <a:pt x="0" y="2565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467123"/>
            <a:ext cx="16230600" cy="692202"/>
          </a:xfrm>
          <a:custGeom>
            <a:avLst/>
            <a:gdLst/>
            <a:ahLst/>
            <a:cxnLst/>
            <a:rect r="r" b="b" t="t" l="l"/>
            <a:pathLst>
              <a:path h="692202" w="16230600">
                <a:moveTo>
                  <a:pt x="0" y="0"/>
                </a:moveTo>
                <a:lnTo>
                  <a:pt x="16230600" y="0"/>
                </a:lnTo>
                <a:lnTo>
                  <a:pt x="16230600" y="692203"/>
                </a:lnTo>
                <a:lnTo>
                  <a:pt x="0" y="692203"/>
                </a:lnTo>
                <a:lnTo>
                  <a:pt x="0" y="0"/>
                </a:lnTo>
                <a:close/>
              </a:path>
            </a:pathLst>
          </a:custGeom>
          <a:blipFill>
            <a:blip r:embed="rId6"/>
            <a:stretch>
              <a:fillRect l="0" t="-21808" r="0" b="-21808"/>
            </a:stretch>
          </a:blipFill>
        </p:spPr>
      </p:sp>
      <p:sp>
        <p:nvSpPr>
          <p:cNvPr name="TextBox 5" id="5"/>
          <p:cNvSpPr txBox="true"/>
          <p:nvPr/>
        </p:nvSpPr>
        <p:spPr>
          <a:xfrm rot="0">
            <a:off x="1028700" y="220585"/>
            <a:ext cx="7119588" cy="1193801"/>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000000"/>
                </a:solidFill>
                <a:latin typeface="Noto Sans Bold"/>
                <a:ea typeface="Noto Sans Bold"/>
                <a:cs typeface="Noto Sans Bold"/>
                <a:sym typeface="Noto Sans Bold"/>
              </a:rPr>
              <a:t>HYBRID SEARCH</a:t>
            </a:r>
          </a:p>
        </p:txBody>
      </p:sp>
      <p:sp>
        <p:nvSpPr>
          <p:cNvPr name="Freeform 6" id="6"/>
          <p:cNvSpPr/>
          <p:nvPr/>
        </p:nvSpPr>
        <p:spPr>
          <a:xfrm flipH="false" flipV="false" rot="0">
            <a:off x="896248" y="1916103"/>
            <a:ext cx="5339174" cy="692202"/>
          </a:xfrm>
          <a:custGeom>
            <a:avLst/>
            <a:gdLst/>
            <a:ahLst/>
            <a:cxnLst/>
            <a:rect r="r" b="b" t="t" l="l"/>
            <a:pathLst>
              <a:path h="692202" w="5339174">
                <a:moveTo>
                  <a:pt x="0" y="0"/>
                </a:moveTo>
                <a:lnTo>
                  <a:pt x="5339174" y="0"/>
                </a:lnTo>
                <a:lnTo>
                  <a:pt x="5339174" y="692202"/>
                </a:lnTo>
                <a:lnTo>
                  <a:pt x="0" y="692202"/>
                </a:lnTo>
                <a:lnTo>
                  <a:pt x="0" y="0"/>
                </a:lnTo>
                <a:close/>
              </a:path>
            </a:pathLst>
          </a:custGeom>
          <a:blipFill>
            <a:blip r:embed="rId6"/>
            <a:stretch>
              <a:fillRect l="-719" t="-21808" r="-203271" b="-21808"/>
            </a:stretch>
          </a:blipFill>
        </p:spPr>
      </p:sp>
      <p:sp>
        <p:nvSpPr>
          <p:cNvPr name="TextBox 7" id="7"/>
          <p:cNvSpPr txBox="true"/>
          <p:nvPr/>
        </p:nvSpPr>
        <p:spPr>
          <a:xfrm rot="0">
            <a:off x="1038225" y="1938672"/>
            <a:ext cx="5197197" cy="580390"/>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Noto Sans"/>
                <a:ea typeface="Noto Sans"/>
                <a:cs typeface="Noto Sans"/>
                <a:sym typeface="Noto Sans"/>
              </a:rPr>
              <a:t>BM25 —</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K</a:t>
            </a:r>
            <a:r>
              <a:rPr lang="en-US" sz="3399" strike="noStrike" u="none">
                <a:solidFill>
                  <a:srgbClr val="000000"/>
                </a:solidFill>
                <a:latin typeface="Noto Sans"/>
                <a:ea typeface="Noto Sans"/>
                <a:cs typeface="Noto Sans"/>
                <a:sym typeface="Noto Sans"/>
              </a:rPr>
              <a:t>eyword Search </a:t>
            </a:r>
          </a:p>
        </p:txBody>
      </p:sp>
      <p:sp>
        <p:nvSpPr>
          <p:cNvPr name="Freeform 8" id="8"/>
          <p:cNvSpPr/>
          <p:nvPr/>
        </p:nvSpPr>
        <p:spPr>
          <a:xfrm flipH="false" flipV="false" rot="0">
            <a:off x="9686198" y="1916103"/>
            <a:ext cx="5339174" cy="692202"/>
          </a:xfrm>
          <a:custGeom>
            <a:avLst/>
            <a:gdLst/>
            <a:ahLst/>
            <a:cxnLst/>
            <a:rect r="r" b="b" t="t" l="l"/>
            <a:pathLst>
              <a:path h="692202" w="5339174">
                <a:moveTo>
                  <a:pt x="0" y="0"/>
                </a:moveTo>
                <a:lnTo>
                  <a:pt x="5339174" y="0"/>
                </a:lnTo>
                <a:lnTo>
                  <a:pt x="5339174" y="692202"/>
                </a:lnTo>
                <a:lnTo>
                  <a:pt x="0" y="692202"/>
                </a:lnTo>
                <a:lnTo>
                  <a:pt x="0" y="0"/>
                </a:lnTo>
                <a:close/>
              </a:path>
            </a:pathLst>
          </a:custGeom>
          <a:blipFill>
            <a:blip r:embed="rId7"/>
            <a:stretch>
              <a:fillRect l="-719" t="-21808" r="-203271" b="-21808"/>
            </a:stretch>
          </a:blipFill>
        </p:spPr>
      </p:sp>
      <p:sp>
        <p:nvSpPr>
          <p:cNvPr name="TextBox 9" id="9"/>
          <p:cNvSpPr txBox="true"/>
          <p:nvPr/>
        </p:nvSpPr>
        <p:spPr>
          <a:xfrm rot="0">
            <a:off x="9781860" y="1938672"/>
            <a:ext cx="5243512" cy="580390"/>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Noto Sans"/>
                <a:ea typeface="Noto Sans"/>
                <a:cs typeface="Noto Sans"/>
                <a:sym typeface="Noto Sans"/>
              </a:rPr>
              <a:t>FAISS — Seman</a:t>
            </a:r>
            <a:r>
              <a:rPr lang="en-US" sz="3399">
                <a:solidFill>
                  <a:srgbClr val="000000"/>
                </a:solidFill>
                <a:latin typeface="Noto Sans"/>
                <a:ea typeface="Noto Sans"/>
                <a:cs typeface="Noto Sans"/>
                <a:sym typeface="Noto Sans"/>
              </a:rPr>
              <a:t>tic</a:t>
            </a:r>
            <a:r>
              <a:rPr lang="en-US" sz="3399" strike="noStrike" u="none">
                <a:solidFill>
                  <a:srgbClr val="000000"/>
                </a:solidFill>
                <a:latin typeface="Noto Sans"/>
                <a:ea typeface="Noto Sans"/>
                <a:cs typeface="Noto Sans"/>
                <a:sym typeface="Noto Sans"/>
              </a:rPr>
              <a:t> Search </a:t>
            </a:r>
          </a:p>
        </p:txBody>
      </p:sp>
      <p:sp>
        <p:nvSpPr>
          <p:cNvPr name="TextBox 10" id="10"/>
          <p:cNvSpPr txBox="true"/>
          <p:nvPr/>
        </p:nvSpPr>
        <p:spPr>
          <a:xfrm rot="0">
            <a:off x="1028700" y="3619817"/>
            <a:ext cx="8115300" cy="2980690"/>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Noto Sans"/>
                <a:ea typeface="Noto Sans"/>
                <a:cs typeface="Noto Sans"/>
                <a:sym typeface="Noto Sans"/>
              </a:rPr>
              <a:t>• Tìm kiếm t</a:t>
            </a:r>
            <a:r>
              <a:rPr lang="en-US" sz="3399" strike="noStrike" u="none">
                <a:solidFill>
                  <a:srgbClr val="000000"/>
                </a:solidFill>
                <a:latin typeface="Noto Sans"/>
                <a:ea typeface="Noto Sans"/>
                <a:cs typeface="Noto Sans"/>
                <a:sym typeface="Noto Sans"/>
              </a:rPr>
              <a:t>heo từ khóa chính xác</a:t>
            </a:r>
          </a:p>
          <a:p>
            <a:pPr algn="l" marL="0" indent="0" lvl="0">
              <a:lnSpc>
                <a:spcPts val="4759"/>
              </a:lnSpc>
              <a:spcBef>
                <a:spcPct val="0"/>
              </a:spcBef>
            </a:pP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Hiệu quả với thuật ngữ chuyên ngành</a:t>
            </a:r>
          </a:p>
          <a:p>
            <a:pPr algn="l">
              <a:lnSpc>
                <a:spcPts val="4759"/>
              </a:lnSpc>
              <a:spcBef>
                <a:spcPct val="0"/>
              </a:spcBef>
            </a:pPr>
            <a:r>
              <a:rPr lang="en-US" sz="3399" strike="noStrike" u="none">
                <a:solidFill>
                  <a:srgbClr val="000000"/>
                </a:solidFill>
                <a:latin typeface="Noto Sans"/>
                <a:ea typeface="Noto Sans"/>
                <a:cs typeface="Noto Sans"/>
                <a:sym typeface="Noto Sans"/>
              </a:rPr>
              <a:t>• Không cần GPU, nhẹ và nhanh</a:t>
            </a:r>
          </a:p>
          <a:p>
            <a:pPr algn="l">
              <a:lnSpc>
                <a:spcPts val="4759"/>
              </a:lnSpc>
              <a:spcBef>
                <a:spcPct val="0"/>
              </a:spcBef>
            </a:pPr>
            <a:r>
              <a:rPr lang="en-US" sz="3399" strike="noStrike" u="none">
                <a:solidFill>
                  <a:srgbClr val="000000"/>
                </a:solidFill>
                <a:latin typeface="Noto Sans"/>
                <a:ea typeface="Noto Sans"/>
                <a:cs typeface="Noto Sans"/>
                <a:sym typeface="Noto Sans"/>
              </a:rPr>
              <a:t>•</a:t>
            </a:r>
            <a:r>
              <a:rPr lang="en-US" sz="3399" strike="noStrike" u="none">
                <a:solidFill>
                  <a:srgbClr val="000000"/>
                </a:solidFill>
                <a:latin typeface="Noto Sans"/>
                <a:ea typeface="Noto Sans"/>
                <a:cs typeface="Noto Sans"/>
                <a:sym typeface="Noto Sans"/>
              </a:rPr>
              <a:t> Kém hiệu quả với từ đồng nghĩa</a:t>
            </a:r>
          </a:p>
          <a:p>
            <a:pPr algn="l" marL="0" indent="0" lvl="0">
              <a:lnSpc>
                <a:spcPts val="4759"/>
              </a:lnSpc>
              <a:spcBef>
                <a:spcPct val="0"/>
              </a:spcBef>
            </a:pPr>
            <a:r>
              <a:rPr lang="en-US" sz="3399" strike="noStrike" u="none">
                <a:solidFill>
                  <a:srgbClr val="000000"/>
                </a:solidFill>
                <a:latin typeface="Noto Sans"/>
                <a:ea typeface="Noto Sans"/>
                <a:cs typeface="Noto Sans"/>
                <a:sym typeface="Noto Sans"/>
              </a:rPr>
              <a:t>• Dự</a:t>
            </a:r>
            <a:r>
              <a:rPr lang="en-US" sz="3399" strike="noStrike" u="none">
                <a:solidFill>
                  <a:srgbClr val="000000"/>
                </a:solidFill>
                <a:latin typeface="Noto Sans"/>
                <a:ea typeface="Noto Sans"/>
                <a:cs typeface="Noto Sans"/>
                <a:sym typeface="Noto Sans"/>
              </a:rPr>
              <a:t>a trên thống kê TF-IDF</a:t>
            </a:r>
          </a:p>
        </p:txBody>
      </p:sp>
      <p:sp>
        <p:nvSpPr>
          <p:cNvPr name="TextBox 11" id="11"/>
          <p:cNvSpPr txBox="true"/>
          <p:nvPr/>
        </p:nvSpPr>
        <p:spPr>
          <a:xfrm rot="0">
            <a:off x="9781860" y="3619817"/>
            <a:ext cx="8115300" cy="2980690"/>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000000"/>
                </a:solidFill>
                <a:latin typeface="Noto Sans"/>
                <a:ea typeface="Noto Sans"/>
                <a:cs typeface="Noto Sans"/>
                <a:sym typeface="Noto Sans"/>
              </a:rPr>
              <a:t>• Tìm kiếm t</a:t>
            </a:r>
            <a:r>
              <a:rPr lang="en-US" sz="3399" strike="noStrike" u="none">
                <a:solidFill>
                  <a:srgbClr val="000000"/>
                </a:solidFill>
                <a:latin typeface="Noto Sans"/>
                <a:ea typeface="Noto Sans"/>
                <a:cs typeface="Noto Sans"/>
                <a:sym typeface="Noto Sans"/>
              </a:rPr>
              <a:t>heo ngữ nghĩa (vector)</a:t>
            </a:r>
          </a:p>
          <a:p>
            <a:pPr algn="l" marL="0" indent="0" lvl="0">
              <a:lnSpc>
                <a:spcPts val="4759"/>
              </a:lnSpc>
              <a:spcBef>
                <a:spcPct val="0"/>
              </a:spcBef>
            </a:pP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Hiểu đồng nghĩa và ngữ cảnh sâu</a:t>
            </a:r>
          </a:p>
          <a:p>
            <a:pPr algn="l">
              <a:lnSpc>
                <a:spcPts val="4759"/>
              </a:lnSpc>
              <a:spcBef>
                <a:spcPct val="0"/>
              </a:spcBef>
            </a:pPr>
            <a:r>
              <a:rPr lang="en-US" sz="3399" strike="noStrike" u="none">
                <a:solidFill>
                  <a:srgbClr val="000000"/>
                </a:solidFill>
                <a:latin typeface="Noto Sans"/>
                <a:ea typeface="Noto Sans"/>
                <a:cs typeface="Noto Sans"/>
                <a:sym typeface="Noto Sans"/>
              </a:rPr>
              <a:t>• Dùng embedding model đa ngôn ngữ</a:t>
            </a:r>
          </a:p>
          <a:p>
            <a:pPr algn="l">
              <a:lnSpc>
                <a:spcPts val="4759"/>
              </a:lnSpc>
              <a:spcBef>
                <a:spcPct val="0"/>
              </a:spcBef>
            </a:pPr>
            <a:r>
              <a:rPr lang="en-US" sz="3399" strike="noStrike" u="none">
                <a:solidFill>
                  <a:srgbClr val="000000"/>
                </a:solidFill>
                <a:latin typeface="Noto Sans"/>
                <a:ea typeface="Noto Sans"/>
                <a:cs typeface="Noto Sans"/>
                <a:sym typeface="Noto Sans"/>
              </a:rPr>
              <a:t>•</a:t>
            </a:r>
            <a:r>
              <a:rPr lang="en-US" sz="3399" strike="noStrike" u="none">
                <a:solidFill>
                  <a:srgbClr val="000000"/>
                </a:solidFill>
                <a:latin typeface="Noto Sans"/>
                <a:ea typeface="Noto Sans"/>
                <a:cs typeface="Noto Sans"/>
                <a:sym typeface="Noto Sans"/>
              </a:rPr>
              <a:t> Tìm được nội dung liên quan gián tiếp</a:t>
            </a:r>
          </a:p>
          <a:p>
            <a:pPr algn="l" marL="0" indent="0" lvl="0">
              <a:lnSpc>
                <a:spcPts val="4759"/>
              </a:lnSpc>
              <a:spcBef>
                <a:spcPct val="0"/>
              </a:spcBef>
            </a:pPr>
            <a:r>
              <a:rPr lang="en-US" sz="3399" strike="noStrike" u="none">
                <a:solidFill>
                  <a:srgbClr val="000000"/>
                </a:solidFill>
                <a:latin typeface="Noto Sans"/>
                <a:ea typeface="Noto Sans"/>
                <a:cs typeface="Noto Sans"/>
                <a:sym typeface="Noto Sans"/>
              </a:rPr>
              <a:t>• Cầ</a:t>
            </a:r>
            <a:r>
              <a:rPr lang="en-US" sz="3399" strike="noStrike" u="none">
                <a:solidFill>
                  <a:srgbClr val="000000"/>
                </a:solidFill>
                <a:latin typeface="Noto Sans"/>
                <a:ea typeface="Noto Sans"/>
                <a:cs typeface="Noto Sans"/>
                <a:sym typeface="Noto Sans"/>
              </a:rPr>
              <a:t>n GPU/RAM cho embedding</a:t>
            </a:r>
          </a:p>
        </p:txBody>
      </p:sp>
      <p:sp>
        <p:nvSpPr>
          <p:cNvPr name="TextBox 12" id="12"/>
          <p:cNvSpPr txBox="true"/>
          <p:nvPr/>
        </p:nvSpPr>
        <p:spPr>
          <a:xfrm rot="0">
            <a:off x="1161152" y="8545281"/>
            <a:ext cx="15905224" cy="464820"/>
          </a:xfrm>
          <a:prstGeom prst="rect">
            <a:avLst/>
          </a:prstGeom>
        </p:spPr>
        <p:txBody>
          <a:bodyPr anchor="t" rtlCol="false" tIns="0" lIns="0" bIns="0" rIns="0">
            <a:spAutoFit/>
          </a:bodyPr>
          <a:lstStyle/>
          <a:p>
            <a:pPr algn="l" marL="0" indent="0" lvl="0">
              <a:lnSpc>
                <a:spcPts val="3780"/>
              </a:lnSpc>
              <a:spcBef>
                <a:spcPct val="0"/>
              </a:spcBef>
            </a:pPr>
            <a:r>
              <a:rPr lang="en-US" b="true" sz="2700">
                <a:solidFill>
                  <a:srgbClr val="000000"/>
                </a:solidFill>
                <a:latin typeface="Noto Sans Bold"/>
                <a:ea typeface="Noto Sans Bold"/>
                <a:cs typeface="Noto Sans Bold"/>
                <a:sym typeface="Noto Sans Bold"/>
              </a:rPr>
              <a:t>Cân bằng giữa độ chính xác từ khóa và hiểu ngữ nghĩa → Tăng chất lượng retrieval tổng thể</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344639" y="640972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08776" y="-398708"/>
            <a:ext cx="7315200" cy="2565737"/>
          </a:xfrm>
          <a:custGeom>
            <a:avLst/>
            <a:gdLst/>
            <a:ahLst/>
            <a:cxnLst/>
            <a:rect r="r" b="b" t="t" l="l"/>
            <a:pathLst>
              <a:path h="2565737" w="7315200">
                <a:moveTo>
                  <a:pt x="0" y="0"/>
                </a:moveTo>
                <a:lnTo>
                  <a:pt x="7315200" y="0"/>
                </a:lnTo>
                <a:lnTo>
                  <a:pt x="7315200" y="2565736"/>
                </a:lnTo>
                <a:lnTo>
                  <a:pt x="0" y="2565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220585"/>
            <a:ext cx="5604983" cy="1193801"/>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000000"/>
                </a:solidFill>
                <a:latin typeface="Noto Sans Bold"/>
                <a:ea typeface="Noto Sans Bold"/>
                <a:cs typeface="Noto Sans Bold"/>
                <a:sym typeface="Noto Sans Bold"/>
              </a:rPr>
              <a:t>RE-RANKING</a:t>
            </a:r>
          </a:p>
        </p:txBody>
      </p:sp>
      <p:sp>
        <p:nvSpPr>
          <p:cNvPr name="TextBox 5" id="5"/>
          <p:cNvSpPr txBox="true"/>
          <p:nvPr/>
        </p:nvSpPr>
        <p:spPr>
          <a:xfrm rot="0">
            <a:off x="1028700" y="2100353"/>
            <a:ext cx="3464957" cy="580390"/>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000000"/>
                </a:solidFill>
                <a:latin typeface="Noto Sans Bold"/>
                <a:ea typeface="Noto Sans Bold"/>
                <a:cs typeface="Noto Sans Bold"/>
                <a:sym typeface="Noto Sans Bold"/>
              </a:rPr>
              <a:t>R</a:t>
            </a:r>
            <a:r>
              <a:rPr lang="en-US" b="true" sz="3399" strike="noStrike" u="none">
                <a:solidFill>
                  <a:srgbClr val="000000"/>
                </a:solidFill>
                <a:latin typeface="Noto Sans Bold"/>
                <a:ea typeface="Noto Sans Bold"/>
                <a:cs typeface="Noto Sans Bold"/>
                <a:sym typeface="Noto Sans Bold"/>
              </a:rPr>
              <a:t>eranking là gì?</a:t>
            </a:r>
          </a:p>
        </p:txBody>
      </p:sp>
      <p:sp>
        <p:nvSpPr>
          <p:cNvPr name="TextBox 6" id="6"/>
          <p:cNvSpPr txBox="true"/>
          <p:nvPr/>
        </p:nvSpPr>
        <p:spPr>
          <a:xfrm rot="0">
            <a:off x="1028700" y="3091615"/>
            <a:ext cx="11342370" cy="1780540"/>
          </a:xfrm>
          <a:prstGeom prst="rect">
            <a:avLst/>
          </a:prstGeom>
        </p:spPr>
        <p:txBody>
          <a:bodyPr anchor="t" rtlCol="false" tIns="0" lIns="0" bIns="0" rIns="0">
            <a:spAutoFit/>
          </a:bodyPr>
          <a:lstStyle/>
          <a:p>
            <a:pPr algn="just" marL="0" indent="0" lvl="0">
              <a:lnSpc>
                <a:spcPts val="4759"/>
              </a:lnSpc>
              <a:spcBef>
                <a:spcPct val="0"/>
              </a:spcBef>
            </a:pPr>
            <a:r>
              <a:rPr lang="en-US" sz="3399">
                <a:solidFill>
                  <a:srgbClr val="000000"/>
                </a:solidFill>
                <a:latin typeface="Noto Sans"/>
                <a:ea typeface="Noto Sans"/>
                <a:cs typeface="Noto Sans"/>
                <a:sym typeface="Noto Sans"/>
              </a:rPr>
              <a:t>Sau khi Hybrid S</a:t>
            </a:r>
            <a:r>
              <a:rPr lang="en-US" sz="3399" strike="noStrike" u="none">
                <a:solidFill>
                  <a:srgbClr val="000000"/>
                </a:solidFill>
                <a:latin typeface="Noto Sans"/>
                <a:ea typeface="Noto Sans"/>
                <a:cs typeface="Noto Sans"/>
                <a:sym typeface="Noto Sans"/>
              </a:rPr>
              <a:t>earch trả về Top-K đoạn văn bản, một Cross-Encoder model sẽ đánh giá lại từng cặp (query, đoạn văn) để chấm điểm chính xác hơn</a:t>
            </a:r>
          </a:p>
        </p:txBody>
      </p:sp>
      <p:sp>
        <p:nvSpPr>
          <p:cNvPr name="TextBox 7" id="7"/>
          <p:cNvSpPr txBox="true"/>
          <p:nvPr/>
        </p:nvSpPr>
        <p:spPr>
          <a:xfrm rot="0">
            <a:off x="947559" y="5281730"/>
            <a:ext cx="11504652"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Noto Sans Bold"/>
                <a:ea typeface="Noto Sans Bold"/>
                <a:cs typeface="Noto Sans Bold"/>
                <a:sym typeface="Noto Sans Bold"/>
              </a:rPr>
              <a:t>Model sử dụng:</a:t>
            </a:r>
            <a:r>
              <a:rPr lang="en-US" sz="3399">
                <a:solidFill>
                  <a:srgbClr val="000000"/>
                </a:solidFill>
                <a:latin typeface="Noto Sans"/>
                <a:ea typeface="Noto Sans"/>
                <a:cs typeface="Noto Sans"/>
                <a:sym typeface="Noto Sans"/>
              </a:rPr>
              <a:t> cross-encoder/ms-marco-MiniLM-L-6-v2</a:t>
            </a:r>
          </a:p>
        </p:txBody>
      </p:sp>
      <p:sp>
        <p:nvSpPr>
          <p:cNvPr name="TextBox 8" id="8"/>
          <p:cNvSpPr txBox="true"/>
          <p:nvPr/>
        </p:nvSpPr>
        <p:spPr>
          <a:xfrm rot="0">
            <a:off x="1028700" y="7261660"/>
            <a:ext cx="12733114" cy="1780540"/>
          </a:xfrm>
          <a:prstGeom prst="rect">
            <a:avLst/>
          </a:prstGeom>
        </p:spPr>
        <p:txBody>
          <a:bodyPr anchor="t" rtlCol="false" tIns="0" lIns="0" bIns="0" rIns="0">
            <a:spAutoFit/>
          </a:bodyPr>
          <a:lstStyle/>
          <a:p>
            <a:pPr algn="just">
              <a:lnSpc>
                <a:spcPts val="4759"/>
              </a:lnSpc>
              <a:spcBef>
                <a:spcPct val="0"/>
              </a:spcBef>
            </a:pPr>
            <a:r>
              <a:rPr lang="en-US" sz="3399">
                <a:solidFill>
                  <a:srgbClr val="000000"/>
                </a:solidFill>
                <a:latin typeface="Noto Sans"/>
                <a:ea typeface="Noto Sans"/>
                <a:cs typeface="Noto Sans"/>
                <a:sym typeface="Noto Sans"/>
              </a:rPr>
              <a:t>• Bi-Encoder (FAISS) tìm kiếm nhanh nhưng kém chính xác hơn</a:t>
            </a:r>
          </a:p>
          <a:p>
            <a:pPr algn="just">
              <a:lnSpc>
                <a:spcPts val="4759"/>
              </a:lnSpc>
              <a:spcBef>
                <a:spcPct val="0"/>
              </a:spcBef>
            </a:pPr>
            <a:r>
              <a:rPr lang="en-US" sz="3399">
                <a:solidFill>
                  <a:srgbClr val="000000"/>
                </a:solidFill>
                <a:latin typeface="Noto Sans"/>
                <a:ea typeface="Noto Sans"/>
                <a:cs typeface="Noto Sans"/>
                <a:sym typeface="Noto Sans"/>
              </a:rPr>
              <a:t>• Cross-Encoder chậm hơn nhưng hiểu ngữ cảnh sâu hơn</a:t>
            </a:r>
          </a:p>
          <a:p>
            <a:pPr algn="just">
              <a:lnSpc>
                <a:spcPts val="4759"/>
              </a:lnSpc>
              <a:spcBef>
                <a:spcPct val="0"/>
              </a:spcBef>
            </a:pPr>
            <a:r>
              <a:rPr lang="en-US" sz="3399">
                <a:solidFill>
                  <a:srgbClr val="000000"/>
                </a:solidFill>
                <a:latin typeface="Noto Sans"/>
                <a:ea typeface="Noto Sans"/>
                <a:cs typeface="Noto Sans"/>
                <a:sym typeface="Noto Sans"/>
              </a:rPr>
              <a:t>• Kết hợp hai bước giúp cân bằng tốc độ và độ chính xác</a:t>
            </a:r>
          </a:p>
        </p:txBody>
      </p:sp>
      <p:sp>
        <p:nvSpPr>
          <p:cNvPr name="TextBox 9" id="9"/>
          <p:cNvSpPr txBox="true"/>
          <p:nvPr/>
        </p:nvSpPr>
        <p:spPr>
          <a:xfrm rot="0">
            <a:off x="1028700" y="6271695"/>
            <a:ext cx="4910376"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Noto Sans Bold"/>
                <a:ea typeface="Noto Sans Bold"/>
                <a:cs typeface="Noto Sans Bold"/>
                <a:sym typeface="Noto Sans Bold"/>
              </a:rPr>
              <a:t>Tại sao cần Reranking?</a:t>
            </a:r>
          </a:p>
        </p:txBody>
      </p:sp>
      <p:grpSp>
        <p:nvGrpSpPr>
          <p:cNvPr name="Group 10" id="10"/>
          <p:cNvGrpSpPr/>
          <p:nvPr/>
        </p:nvGrpSpPr>
        <p:grpSpPr>
          <a:xfrm rot="0">
            <a:off x="7660370" y="353935"/>
            <a:ext cx="530226" cy="53022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B2E2"/>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8870742" y="619047"/>
            <a:ext cx="530226" cy="53022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B2E2"/>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7871959" y="1127925"/>
            <a:ext cx="530226" cy="53022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8605629" y="1517339"/>
            <a:ext cx="530226" cy="53022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C0DF"/>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8075404" y="1901916"/>
            <a:ext cx="530226" cy="53022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B2E2"/>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7130144" y="1161214"/>
            <a:ext cx="530226" cy="53022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6CE6"/>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7130144" y="2150518"/>
            <a:ext cx="530226" cy="530226"/>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B2E2"/>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8605629" y="2415631"/>
            <a:ext cx="530226" cy="530226"/>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34" id="34"/>
          <p:cNvSpPr/>
          <p:nvPr/>
        </p:nvSpPr>
        <p:spPr>
          <a:xfrm>
            <a:off x="9935302" y="1782452"/>
            <a:ext cx="4910532" cy="898292"/>
          </a:xfrm>
          <a:prstGeom prst="line">
            <a:avLst/>
          </a:prstGeom>
          <a:ln cap="flat" w="38100">
            <a:solidFill>
              <a:srgbClr val="000000"/>
            </a:solidFill>
            <a:prstDash val="solid"/>
            <a:headEnd type="none" len="sm" w="sm"/>
            <a:tailEnd type="arrow" len="sm" w="med"/>
          </a:ln>
        </p:spPr>
      </p:sp>
      <p:grpSp>
        <p:nvGrpSpPr>
          <p:cNvPr name="Group 35" id="35"/>
          <p:cNvGrpSpPr/>
          <p:nvPr/>
        </p:nvGrpSpPr>
        <p:grpSpPr>
          <a:xfrm rot="0">
            <a:off x="13408776" y="3158290"/>
            <a:ext cx="530226" cy="530226"/>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6CE6"/>
            </a:solidFill>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8" id="38"/>
          <p:cNvGrpSpPr/>
          <p:nvPr/>
        </p:nvGrpSpPr>
        <p:grpSpPr>
          <a:xfrm rot="0">
            <a:off x="14315608" y="3158290"/>
            <a:ext cx="530226" cy="530226"/>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41" id="41"/>
          <p:cNvGrpSpPr/>
          <p:nvPr/>
        </p:nvGrpSpPr>
        <p:grpSpPr>
          <a:xfrm rot="0">
            <a:off x="15226834" y="3158290"/>
            <a:ext cx="530226" cy="530226"/>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44" id="44"/>
          <p:cNvSpPr txBox="true"/>
          <p:nvPr/>
        </p:nvSpPr>
        <p:spPr>
          <a:xfrm rot="716090">
            <a:off x="11546121" y="1738848"/>
            <a:ext cx="2120284"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Noto Sans"/>
                <a:ea typeface="Noto Sans"/>
                <a:cs typeface="Noto Sans"/>
                <a:sym typeface="Noto Sans"/>
              </a:rPr>
              <a:t>Hybrid Search</a:t>
            </a:r>
          </a:p>
        </p:txBody>
      </p:sp>
      <p:grpSp>
        <p:nvGrpSpPr>
          <p:cNvPr name="Group 45" id="45"/>
          <p:cNvGrpSpPr/>
          <p:nvPr/>
        </p:nvGrpSpPr>
        <p:grpSpPr>
          <a:xfrm rot="0">
            <a:off x="16136926" y="3158290"/>
            <a:ext cx="530226" cy="530226"/>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B2E2"/>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48" id="48"/>
          <p:cNvSpPr/>
          <p:nvPr/>
        </p:nvSpPr>
        <p:spPr>
          <a:xfrm flipH="true">
            <a:off x="14845834" y="4015222"/>
            <a:ext cx="0" cy="1333183"/>
          </a:xfrm>
          <a:prstGeom prst="line">
            <a:avLst/>
          </a:prstGeom>
          <a:ln cap="flat" w="38100">
            <a:solidFill>
              <a:srgbClr val="000000"/>
            </a:solidFill>
            <a:prstDash val="solid"/>
            <a:headEnd type="none" len="sm" w="sm"/>
            <a:tailEnd type="arrow" len="sm" w="med"/>
          </a:ln>
        </p:spPr>
      </p:sp>
      <p:grpSp>
        <p:nvGrpSpPr>
          <p:cNvPr name="Group 49" id="49"/>
          <p:cNvGrpSpPr/>
          <p:nvPr/>
        </p:nvGrpSpPr>
        <p:grpSpPr>
          <a:xfrm rot="0">
            <a:off x="14079526" y="5605262"/>
            <a:ext cx="530226" cy="530226"/>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B6CE6"/>
            </a:solidFill>
          </p:spPr>
        </p:sp>
        <p:sp>
          <p:nvSpPr>
            <p:cNvPr name="TextBox 51" id="5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2" id="52"/>
          <p:cNvGrpSpPr/>
          <p:nvPr/>
        </p:nvGrpSpPr>
        <p:grpSpPr>
          <a:xfrm rot="0">
            <a:off x="15226834" y="5605262"/>
            <a:ext cx="530226" cy="530226"/>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54" id="5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5" id="55"/>
          <p:cNvSpPr txBox="true"/>
          <p:nvPr/>
        </p:nvSpPr>
        <p:spPr>
          <a:xfrm rot="0">
            <a:off x="14955503" y="4428448"/>
            <a:ext cx="1603112"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Noto Sans"/>
                <a:ea typeface="Noto Sans"/>
                <a:cs typeface="Noto Sans"/>
                <a:sym typeface="Noto Sans"/>
              </a:rPr>
              <a:t>Re-rank</a:t>
            </a:r>
          </a:p>
        </p:txBody>
      </p:sp>
      <p:grpSp>
        <p:nvGrpSpPr>
          <p:cNvPr name="Group 56" id="56"/>
          <p:cNvGrpSpPr/>
          <p:nvPr/>
        </p:nvGrpSpPr>
        <p:grpSpPr>
          <a:xfrm rot="0">
            <a:off x="14651998" y="7606710"/>
            <a:ext cx="607011" cy="578557"/>
            <a:chOff x="0" y="0"/>
            <a:chExt cx="812800" cy="774700"/>
          </a:xfrm>
        </p:grpSpPr>
        <p:sp>
          <p:nvSpPr>
            <p:cNvPr name="Freeform 57" id="57"/>
            <p:cNvSpPr/>
            <p:nvPr/>
          </p:nvSpPr>
          <p:spPr>
            <a:xfrm flipH="false" flipV="false" rot="0">
              <a:off x="40413" y="43912"/>
              <a:ext cx="731975" cy="698669"/>
            </a:xfrm>
            <a:custGeom>
              <a:avLst/>
              <a:gdLst/>
              <a:ahLst/>
              <a:cxnLst/>
              <a:rect r="r" b="b" t="t" l="l"/>
              <a:pathLst>
                <a:path h="698669" w="731975">
                  <a:moveTo>
                    <a:pt x="388734" y="15664"/>
                  </a:moveTo>
                  <a:lnTo>
                    <a:pt x="449920" y="175912"/>
                  </a:lnTo>
                  <a:cubicBezTo>
                    <a:pt x="463746" y="212123"/>
                    <a:pt x="497645" y="236758"/>
                    <a:pt x="536356" y="238726"/>
                  </a:cubicBezTo>
                  <a:lnTo>
                    <a:pt x="708698" y="247490"/>
                  </a:lnTo>
                  <a:cubicBezTo>
                    <a:pt x="718832" y="248005"/>
                    <a:pt x="727601" y="254708"/>
                    <a:pt x="730757" y="264352"/>
                  </a:cubicBezTo>
                  <a:cubicBezTo>
                    <a:pt x="733913" y="273995"/>
                    <a:pt x="730803" y="284586"/>
                    <a:pt x="722935" y="290992"/>
                  </a:cubicBezTo>
                  <a:lnTo>
                    <a:pt x="589429" y="399694"/>
                  </a:lnTo>
                  <a:cubicBezTo>
                    <a:pt x="559338" y="424194"/>
                    <a:pt x="546430" y="464076"/>
                    <a:pt x="556459" y="501562"/>
                  </a:cubicBezTo>
                  <a:lnTo>
                    <a:pt x="600965" y="667914"/>
                  </a:lnTo>
                  <a:cubicBezTo>
                    <a:pt x="603582" y="677693"/>
                    <a:pt x="599898" y="688073"/>
                    <a:pt x="591703" y="694015"/>
                  </a:cubicBezTo>
                  <a:cubicBezTo>
                    <a:pt x="583508" y="699958"/>
                    <a:pt x="572497" y="700233"/>
                    <a:pt x="564016" y="694707"/>
                  </a:cubicBezTo>
                  <a:lnTo>
                    <a:pt x="419418" y="600499"/>
                  </a:lnTo>
                  <a:cubicBezTo>
                    <a:pt x="386940" y="579339"/>
                    <a:pt x="345034" y="579339"/>
                    <a:pt x="312556" y="600499"/>
                  </a:cubicBezTo>
                  <a:lnTo>
                    <a:pt x="167958" y="694707"/>
                  </a:lnTo>
                  <a:cubicBezTo>
                    <a:pt x="159477" y="700233"/>
                    <a:pt x="148466" y="699958"/>
                    <a:pt x="140271" y="694015"/>
                  </a:cubicBezTo>
                  <a:cubicBezTo>
                    <a:pt x="132076" y="688073"/>
                    <a:pt x="128393" y="677693"/>
                    <a:pt x="131009" y="667914"/>
                  </a:cubicBezTo>
                  <a:lnTo>
                    <a:pt x="175515" y="501562"/>
                  </a:lnTo>
                  <a:cubicBezTo>
                    <a:pt x="185544" y="464076"/>
                    <a:pt x="172636" y="424194"/>
                    <a:pt x="142545" y="399694"/>
                  </a:cubicBezTo>
                  <a:lnTo>
                    <a:pt x="9039" y="290992"/>
                  </a:lnTo>
                  <a:cubicBezTo>
                    <a:pt x="1171" y="284586"/>
                    <a:pt x="-1939" y="273995"/>
                    <a:pt x="1217" y="264352"/>
                  </a:cubicBezTo>
                  <a:cubicBezTo>
                    <a:pt x="4373" y="254708"/>
                    <a:pt x="13142" y="248005"/>
                    <a:pt x="23276" y="247490"/>
                  </a:cubicBezTo>
                  <a:lnTo>
                    <a:pt x="195618" y="238726"/>
                  </a:lnTo>
                  <a:cubicBezTo>
                    <a:pt x="234329" y="236758"/>
                    <a:pt x="268228" y="212123"/>
                    <a:pt x="282054" y="175912"/>
                  </a:cubicBezTo>
                  <a:lnTo>
                    <a:pt x="343240" y="15664"/>
                  </a:lnTo>
                  <a:cubicBezTo>
                    <a:pt x="346841" y="6232"/>
                    <a:pt x="355890" y="0"/>
                    <a:pt x="365987" y="0"/>
                  </a:cubicBezTo>
                  <a:cubicBezTo>
                    <a:pt x="376084" y="0"/>
                    <a:pt x="385133" y="6232"/>
                    <a:pt x="388734" y="15664"/>
                  </a:cubicBezTo>
                  <a:close/>
                </a:path>
              </a:pathLst>
            </a:custGeom>
            <a:solidFill>
              <a:srgbClr val="0CC0DF"/>
            </a:solidFill>
          </p:spPr>
        </p:sp>
        <p:sp>
          <p:nvSpPr>
            <p:cNvPr name="TextBox 58" id="58"/>
            <p:cNvSpPr txBox="true"/>
            <p:nvPr/>
          </p:nvSpPr>
          <p:spPr>
            <a:xfrm>
              <a:off x="232932" y="241585"/>
              <a:ext cx="346936" cy="368056"/>
            </a:xfrm>
            <a:prstGeom prst="rect">
              <a:avLst/>
            </a:prstGeom>
          </p:spPr>
          <p:txBody>
            <a:bodyPr anchor="ctr" rtlCol="false" tIns="50800" lIns="50800" bIns="50800" rIns="50800"/>
            <a:lstStyle/>
            <a:p>
              <a:pPr algn="ctr">
                <a:lnSpc>
                  <a:spcPts val="2659"/>
                </a:lnSpc>
              </a:pPr>
            </a:p>
          </p:txBody>
        </p:sp>
      </p:grpSp>
      <p:sp>
        <p:nvSpPr>
          <p:cNvPr name="AutoShape 59" id="59"/>
          <p:cNvSpPr/>
          <p:nvPr/>
        </p:nvSpPr>
        <p:spPr>
          <a:xfrm>
            <a:off x="14909933" y="6338370"/>
            <a:ext cx="45571" cy="989965"/>
          </a:xfrm>
          <a:prstGeom prst="line">
            <a:avLst/>
          </a:prstGeom>
          <a:ln cap="flat" w="38100">
            <a:solidFill>
              <a:srgbClr val="000000"/>
            </a:solidFill>
            <a:prstDash val="solid"/>
            <a:headEnd type="none" len="sm" w="sm"/>
            <a:tailEnd type="arrow" len="sm" w="med"/>
          </a:ln>
        </p:spPr>
      </p:sp>
      <p:sp>
        <p:nvSpPr>
          <p:cNvPr name="TextBox 60" id="60"/>
          <p:cNvSpPr txBox="true"/>
          <p:nvPr/>
        </p:nvSpPr>
        <p:spPr>
          <a:xfrm rot="0">
            <a:off x="15259009" y="6633645"/>
            <a:ext cx="1603112" cy="389255"/>
          </a:xfrm>
          <a:prstGeom prst="rect">
            <a:avLst/>
          </a:prstGeom>
        </p:spPr>
        <p:txBody>
          <a:bodyPr anchor="t" rtlCol="false" tIns="0" lIns="0" bIns="0" rIns="0">
            <a:spAutoFit/>
          </a:bodyPr>
          <a:lstStyle/>
          <a:p>
            <a:pPr algn="ctr">
              <a:lnSpc>
                <a:spcPts val="3219"/>
              </a:lnSpc>
              <a:spcBef>
                <a:spcPct val="0"/>
              </a:spcBef>
            </a:pPr>
            <a:r>
              <a:rPr lang="en-US" sz="2299">
                <a:solidFill>
                  <a:srgbClr val="000000"/>
                </a:solidFill>
                <a:latin typeface="Noto Sans"/>
                <a:ea typeface="Noto Sans"/>
                <a:cs typeface="Noto Sans"/>
                <a:sym typeface="Noto Sans"/>
              </a:rPr>
              <a:t>Answer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344639" y="640972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08776" y="-398708"/>
            <a:ext cx="7315200" cy="2565737"/>
          </a:xfrm>
          <a:custGeom>
            <a:avLst/>
            <a:gdLst/>
            <a:ahLst/>
            <a:cxnLst/>
            <a:rect r="r" b="b" t="t" l="l"/>
            <a:pathLst>
              <a:path h="2565737" w="7315200">
                <a:moveTo>
                  <a:pt x="0" y="0"/>
                </a:moveTo>
                <a:lnTo>
                  <a:pt x="7315200" y="0"/>
                </a:lnTo>
                <a:lnTo>
                  <a:pt x="7315200" y="2565736"/>
                </a:lnTo>
                <a:lnTo>
                  <a:pt x="0" y="2565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01137" y="365125"/>
            <a:ext cx="4107537" cy="1193800"/>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000000"/>
                </a:solidFill>
                <a:latin typeface="Noto Sans Bold"/>
                <a:ea typeface="Noto Sans Bold"/>
                <a:cs typeface="Noto Sans Bold"/>
                <a:sym typeface="Noto Sans Bold"/>
              </a:rPr>
              <a:t>SELF-RAG</a:t>
            </a:r>
          </a:p>
        </p:txBody>
      </p:sp>
      <p:sp>
        <p:nvSpPr>
          <p:cNvPr name="TextBox 5" id="5"/>
          <p:cNvSpPr txBox="true"/>
          <p:nvPr/>
        </p:nvSpPr>
        <p:spPr>
          <a:xfrm rot="0">
            <a:off x="1028700" y="2100353"/>
            <a:ext cx="13408776" cy="5981065"/>
          </a:xfrm>
          <a:prstGeom prst="rect">
            <a:avLst/>
          </a:prstGeom>
        </p:spPr>
        <p:txBody>
          <a:bodyPr anchor="t" rtlCol="false" tIns="0" lIns="0" bIns="0" rIns="0">
            <a:spAutoFit/>
          </a:bodyPr>
          <a:lstStyle/>
          <a:p>
            <a:pPr algn="l">
              <a:lnSpc>
                <a:spcPts val="4759"/>
              </a:lnSpc>
            </a:pPr>
            <a:r>
              <a:rPr lang="en-US" sz="3399">
                <a:solidFill>
                  <a:srgbClr val="000000"/>
                </a:solidFill>
                <a:latin typeface="Noto Sans"/>
                <a:ea typeface="Noto Sans"/>
                <a:cs typeface="Noto Sans"/>
                <a:sym typeface="Noto Sans"/>
              </a:rPr>
              <a:t>Self-RAG (Self-Reflective RAG)</a:t>
            </a:r>
          </a:p>
          <a:p>
            <a:pPr algn="l" marL="734059" indent="-367030" lvl="1">
              <a:lnSpc>
                <a:spcPts val="4759"/>
              </a:lnSpc>
              <a:spcBef>
                <a:spcPct val="0"/>
              </a:spcBef>
              <a:buFont typeface="Arial"/>
              <a:buChar char="•"/>
            </a:pPr>
            <a:r>
              <a:rPr lang="en-US" sz="3399">
                <a:solidFill>
                  <a:srgbClr val="000000"/>
                </a:solidFill>
                <a:latin typeface="Noto Sans"/>
                <a:ea typeface="Noto Sans"/>
                <a:cs typeface="Noto Sans"/>
                <a:sym typeface="Noto Sans"/>
              </a:rPr>
              <a:t>Kỹ t</a:t>
            </a:r>
            <a:r>
              <a:rPr lang="en-US" sz="3399" strike="noStrike" u="none">
                <a:solidFill>
                  <a:srgbClr val="000000"/>
                </a:solidFill>
                <a:latin typeface="Noto Sans"/>
                <a:ea typeface="Noto Sans"/>
                <a:cs typeface="Noto Sans"/>
                <a:sym typeface="Noto Sans"/>
              </a:rPr>
              <a:t>h</a:t>
            </a:r>
            <a:r>
              <a:rPr lang="en-US" sz="3399" strike="noStrike" u="none">
                <a:solidFill>
                  <a:srgbClr val="000000"/>
                </a:solidFill>
                <a:latin typeface="Noto Sans"/>
                <a:ea typeface="Noto Sans"/>
                <a:cs typeface="Noto Sans"/>
                <a:sym typeface="Noto Sans"/>
              </a:rPr>
              <a:t>uật tự phản biện và tự tối ưu của LLM</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Mô hình không chỉ trả lời </a:t>
            </a:r>
            <a:r>
              <a:rPr lang="en-US" sz="3399" strike="noStrike" u="none">
                <a:solidFill>
                  <a:srgbClr val="000000"/>
                </a:solidFill>
                <a:latin typeface="Noto Sans"/>
                <a:ea typeface="Noto Sans"/>
                <a:cs typeface="Noto Sans"/>
                <a:sym typeface="Noto Sans"/>
              </a:rPr>
              <a:t>m</a:t>
            </a:r>
            <a:r>
              <a:rPr lang="en-US" sz="3399" strike="noStrike" u="none">
                <a:solidFill>
                  <a:srgbClr val="000000"/>
                </a:solidFill>
                <a:latin typeface="Noto Sans"/>
                <a:ea typeface="Noto Sans"/>
                <a:cs typeface="Noto Sans"/>
                <a:sym typeface="Noto Sans"/>
              </a:rPr>
              <a:t>ột</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lầ</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 mà tự đánh giá chất lượng câu trả lời rồi cải thiện nếu cần</a:t>
            </a:r>
          </a:p>
          <a:p>
            <a:pPr algn="l" marL="0" indent="0" lvl="0">
              <a:lnSpc>
                <a:spcPts val="4759"/>
              </a:lnSpc>
              <a:spcBef>
                <a:spcPct val="0"/>
              </a:spcBef>
            </a:pPr>
            <a:r>
              <a:rPr lang="en-US" sz="3399" strike="noStrike" u="none">
                <a:solidFill>
                  <a:srgbClr val="000000"/>
                </a:solidFill>
                <a:latin typeface="Noto Sans"/>
                <a:ea typeface="Noto Sans"/>
                <a:cs typeface="Noto Sans"/>
                <a:sym typeface="Noto Sans"/>
              </a:rPr>
              <a:t>Luồng hoạt động</a:t>
            </a:r>
            <a:r>
              <a:rPr lang="en-US" sz="3399" strike="noStrike" u="none">
                <a:solidFill>
                  <a:srgbClr val="000000"/>
                </a:solidFill>
                <a:latin typeface="Noto Sans"/>
                <a:ea typeface="Noto Sans"/>
                <a:cs typeface="Noto Sans"/>
                <a:sym typeface="Noto Sans"/>
              </a:rPr>
              <a:t>:</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Retr</a:t>
            </a:r>
            <a:r>
              <a:rPr lang="en-US" sz="3399" strike="noStrike" u="none">
                <a:solidFill>
                  <a:srgbClr val="000000"/>
                </a:solidFill>
                <a:latin typeface="Noto Sans"/>
                <a:ea typeface="Noto Sans"/>
                <a:cs typeface="Noto Sans"/>
                <a:sym typeface="Noto Sans"/>
              </a:rPr>
              <a:t>i</a:t>
            </a:r>
            <a:r>
              <a:rPr lang="en-US" sz="3399" strike="noStrike" u="none">
                <a:solidFill>
                  <a:srgbClr val="000000"/>
                </a:solidFill>
                <a:latin typeface="Noto Sans"/>
                <a:ea typeface="Noto Sans"/>
                <a:cs typeface="Noto Sans"/>
                <a:sym typeface="Noto Sans"/>
              </a:rPr>
              <a:t>eve</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 Generate → Eval</a:t>
            </a:r>
            <a:r>
              <a:rPr lang="en-US" sz="3399" strike="noStrike" u="none">
                <a:solidFill>
                  <a:srgbClr val="000000"/>
                </a:solidFill>
                <a:latin typeface="Noto Sans"/>
                <a:ea typeface="Noto Sans"/>
                <a:cs typeface="Noto Sans"/>
                <a:sym typeface="Noto Sans"/>
              </a:rPr>
              <a:t>u</a:t>
            </a:r>
            <a:r>
              <a:rPr lang="en-US" sz="3399" strike="noStrike" u="none">
                <a:solidFill>
                  <a:srgbClr val="000000"/>
                </a:solidFill>
                <a:latin typeface="Noto Sans"/>
                <a:ea typeface="Noto Sans"/>
                <a:cs typeface="Noto Sans"/>
                <a:sym typeface="Noto Sans"/>
              </a:rPr>
              <a:t>ate (LLM chấm điểm + tìm thô</a:t>
            </a:r>
            <a:r>
              <a:rPr lang="en-US" sz="3399" strike="noStrike" u="none">
                <a:solidFill>
                  <a:srgbClr val="000000"/>
                </a:solidFill>
                <a:latin typeface="Noto Sans"/>
                <a:ea typeface="Noto Sans"/>
                <a:cs typeface="Noto Sans"/>
                <a:sym typeface="Noto Sans"/>
              </a:rPr>
              <a:t>ng </a:t>
            </a:r>
            <a:r>
              <a:rPr lang="en-US" sz="3399" strike="noStrike" u="none">
                <a:solidFill>
                  <a:srgbClr val="000000"/>
                </a:solidFill>
                <a:latin typeface="Noto Sans"/>
                <a:ea typeface="Noto Sans"/>
                <a:cs typeface="Noto Sans"/>
                <a:sym typeface="Noto Sans"/>
              </a:rPr>
              <a:t>tin thiếu)</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Nếu điểm thấp → Rewrite Query thông minh → lặp lại (tối đa 2 </a:t>
            </a:r>
            <a:r>
              <a:rPr lang="en-US" sz="3399" strike="noStrike" u="none">
                <a:solidFill>
                  <a:srgbClr val="000000"/>
                </a:solidFill>
                <a:latin typeface="Noto Sans"/>
                <a:ea typeface="Noto Sans"/>
                <a:cs typeface="Noto Sans"/>
                <a:sym typeface="Noto Sans"/>
              </a:rPr>
              <a:t>v</a:t>
            </a:r>
            <a:r>
              <a:rPr lang="en-US" sz="3399" strike="noStrike" u="none">
                <a:solidFill>
                  <a:srgbClr val="000000"/>
                </a:solidFill>
                <a:latin typeface="Noto Sans"/>
                <a:ea typeface="Noto Sans"/>
                <a:cs typeface="Noto Sans"/>
                <a:sym typeface="Noto Sans"/>
              </a:rPr>
              <a:t>òng)</a:t>
            </a:r>
          </a:p>
          <a:p>
            <a:pPr algn="l" marL="0" indent="0" lvl="0">
              <a:lnSpc>
                <a:spcPts val="4759"/>
              </a:lnSpc>
              <a:spcBef>
                <a:spcPct val="0"/>
              </a:spcBef>
            </a:pPr>
          </a:p>
        </p:txBody>
      </p:sp>
      <p:grpSp>
        <p:nvGrpSpPr>
          <p:cNvPr name="Group 6" id="6"/>
          <p:cNvGrpSpPr/>
          <p:nvPr/>
        </p:nvGrpSpPr>
        <p:grpSpPr>
          <a:xfrm rot="0">
            <a:off x="8870742" y="1293813"/>
            <a:ext cx="530226" cy="53022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B2E2"/>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8340516" y="763587"/>
            <a:ext cx="530226" cy="53022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B2E2"/>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28700" y="8467123"/>
            <a:ext cx="16230600" cy="692202"/>
          </a:xfrm>
          <a:custGeom>
            <a:avLst/>
            <a:gdLst/>
            <a:ahLst/>
            <a:cxnLst/>
            <a:rect r="r" b="b" t="t" l="l"/>
            <a:pathLst>
              <a:path h="692202" w="16230600">
                <a:moveTo>
                  <a:pt x="0" y="0"/>
                </a:moveTo>
                <a:lnTo>
                  <a:pt x="16230600" y="0"/>
                </a:lnTo>
                <a:lnTo>
                  <a:pt x="16230600" y="692203"/>
                </a:lnTo>
                <a:lnTo>
                  <a:pt x="0" y="692203"/>
                </a:lnTo>
                <a:lnTo>
                  <a:pt x="0" y="0"/>
                </a:lnTo>
                <a:close/>
              </a:path>
            </a:pathLst>
          </a:custGeom>
          <a:blipFill>
            <a:blip r:embed="rId6"/>
            <a:stretch>
              <a:fillRect l="0" t="-21808" r="0" b="-21808"/>
            </a:stretch>
          </a:blipFill>
        </p:spPr>
      </p:sp>
      <p:sp>
        <p:nvSpPr>
          <p:cNvPr name="TextBox 13" id="13"/>
          <p:cNvSpPr txBox="true"/>
          <p:nvPr/>
        </p:nvSpPr>
        <p:spPr>
          <a:xfrm rot="0">
            <a:off x="171439" y="8451910"/>
            <a:ext cx="16894937" cy="646430"/>
          </a:xfrm>
          <a:prstGeom prst="rect">
            <a:avLst/>
          </a:prstGeom>
        </p:spPr>
        <p:txBody>
          <a:bodyPr anchor="t" rtlCol="false" tIns="0" lIns="0" bIns="0" rIns="0">
            <a:spAutoFit/>
          </a:bodyPr>
          <a:lstStyle/>
          <a:p>
            <a:pPr algn="ctr">
              <a:lnSpc>
                <a:spcPts val="5320"/>
              </a:lnSpc>
              <a:spcBef>
                <a:spcPct val="0"/>
              </a:spcBef>
            </a:pPr>
            <a:r>
              <a:rPr lang="en-US" sz="3800">
                <a:solidFill>
                  <a:srgbClr val="000000"/>
                </a:solidFill>
                <a:latin typeface="Noto Sans"/>
                <a:ea typeface="Noto Sans"/>
                <a:cs typeface="Noto Sans"/>
                <a:sym typeface="Noto Sans"/>
              </a:rPr>
              <a:t>Lợi ích: Giảm hallucination, tăng độ chính xác và đầy đủ thông tin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0" y="61722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08776" y="-398708"/>
            <a:ext cx="7315200" cy="2565737"/>
          </a:xfrm>
          <a:custGeom>
            <a:avLst/>
            <a:gdLst/>
            <a:ahLst/>
            <a:cxnLst/>
            <a:rect r="r" b="b" t="t" l="l"/>
            <a:pathLst>
              <a:path h="2565737" w="7315200">
                <a:moveTo>
                  <a:pt x="0" y="0"/>
                </a:moveTo>
                <a:lnTo>
                  <a:pt x="7315200" y="0"/>
                </a:lnTo>
                <a:lnTo>
                  <a:pt x="7315200" y="2565736"/>
                </a:lnTo>
                <a:lnTo>
                  <a:pt x="0" y="2565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933543" y="0"/>
            <a:ext cx="8420913" cy="10287000"/>
          </a:xfrm>
          <a:custGeom>
            <a:avLst/>
            <a:gdLst/>
            <a:ahLst/>
            <a:cxnLst/>
            <a:rect r="r" b="b" t="t" l="l"/>
            <a:pathLst>
              <a:path h="10287000" w="8420913">
                <a:moveTo>
                  <a:pt x="0" y="0"/>
                </a:moveTo>
                <a:lnTo>
                  <a:pt x="8420914" y="0"/>
                </a:lnTo>
                <a:lnTo>
                  <a:pt x="8420914" y="10287000"/>
                </a:lnTo>
                <a:lnTo>
                  <a:pt x="0" y="10287000"/>
                </a:lnTo>
                <a:lnTo>
                  <a:pt x="0" y="0"/>
                </a:lnTo>
                <a:close/>
              </a:path>
            </a:pathLst>
          </a:custGeom>
          <a:blipFill>
            <a:blip r:embed="rId6"/>
            <a:stretch>
              <a:fillRect l="0" t="0" r="0" b="0"/>
            </a:stretch>
          </a:blipFill>
        </p:spPr>
      </p:sp>
      <p:sp>
        <p:nvSpPr>
          <p:cNvPr name="TextBox 5" id="5"/>
          <p:cNvSpPr txBox="true"/>
          <p:nvPr/>
        </p:nvSpPr>
        <p:spPr>
          <a:xfrm rot="0">
            <a:off x="511528" y="414338"/>
            <a:ext cx="1034344" cy="2980690"/>
          </a:xfrm>
          <a:prstGeom prst="rect">
            <a:avLst/>
          </a:prstGeom>
        </p:spPr>
        <p:txBody>
          <a:bodyPr anchor="t" rtlCol="false" tIns="0" lIns="0" bIns="0" rIns="0">
            <a:spAutoFit/>
          </a:bodyPr>
          <a:lstStyle/>
          <a:p>
            <a:pPr algn="ctr" marL="0" indent="0" lvl="0">
              <a:lnSpc>
                <a:spcPts val="4759"/>
              </a:lnSpc>
              <a:spcBef>
                <a:spcPct val="0"/>
              </a:spcBef>
            </a:pPr>
            <a:r>
              <a:rPr lang="en-US" sz="3399">
                <a:solidFill>
                  <a:srgbClr val="000000"/>
                </a:solidFill>
                <a:latin typeface="Noto Sans"/>
                <a:ea typeface="Noto Sans"/>
                <a:cs typeface="Noto Sans"/>
                <a:sym typeface="Noto Sans"/>
              </a:rPr>
              <a:t>Q</a:t>
            </a:r>
            <a:r>
              <a:rPr lang="en-US" sz="3399" strike="noStrike" u="none">
                <a:solidFill>
                  <a:srgbClr val="000000"/>
                </a:solidFill>
                <a:latin typeface="Noto Sans"/>
                <a:ea typeface="Noto Sans"/>
                <a:cs typeface="Noto Sans"/>
                <a:sym typeface="Noto Sans"/>
              </a:rPr>
              <a:t>u</a:t>
            </a:r>
            <a:r>
              <a:rPr lang="en-US" sz="3399" strike="noStrike" u="none">
                <a:solidFill>
                  <a:srgbClr val="000000"/>
                </a:solidFill>
                <a:latin typeface="Noto Sans"/>
                <a:ea typeface="Noto Sans"/>
                <a:cs typeface="Noto Sans"/>
                <a:sym typeface="Noto Sans"/>
              </a:rPr>
              <a:t>y</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trì</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h</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Self-RAG</a:t>
            </a:r>
          </a:p>
          <a:p>
            <a:pPr algn="ctr" marL="0" indent="0" lvl="0">
              <a:lnSpc>
                <a:spcPts val="475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344639" y="640972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08776" y="-398708"/>
            <a:ext cx="7315200" cy="2565737"/>
          </a:xfrm>
          <a:custGeom>
            <a:avLst/>
            <a:gdLst/>
            <a:ahLst/>
            <a:cxnLst/>
            <a:rect r="r" b="b" t="t" l="l"/>
            <a:pathLst>
              <a:path h="2565737" w="7315200">
                <a:moveTo>
                  <a:pt x="0" y="0"/>
                </a:moveTo>
                <a:lnTo>
                  <a:pt x="7315200" y="0"/>
                </a:lnTo>
                <a:lnTo>
                  <a:pt x="7315200" y="2565736"/>
                </a:lnTo>
                <a:lnTo>
                  <a:pt x="0" y="2565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76369" y="365125"/>
            <a:ext cx="5157073" cy="1193800"/>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000000"/>
                </a:solidFill>
                <a:latin typeface="Noto Sans Bold"/>
                <a:ea typeface="Noto Sans Bold"/>
                <a:cs typeface="Noto Sans Bold"/>
                <a:sym typeface="Noto Sans Bold"/>
              </a:rPr>
              <a:t>GRAPH RAG</a:t>
            </a:r>
          </a:p>
        </p:txBody>
      </p:sp>
      <p:sp>
        <p:nvSpPr>
          <p:cNvPr name="TextBox 5" id="5"/>
          <p:cNvSpPr txBox="true"/>
          <p:nvPr/>
        </p:nvSpPr>
        <p:spPr>
          <a:xfrm rot="0">
            <a:off x="1028700" y="2341422"/>
            <a:ext cx="14344639" cy="6581140"/>
          </a:xfrm>
          <a:prstGeom prst="rect">
            <a:avLst/>
          </a:prstGeom>
        </p:spPr>
        <p:txBody>
          <a:bodyPr anchor="t" rtlCol="false" tIns="0" lIns="0" bIns="0" rIns="0">
            <a:spAutoFit/>
          </a:bodyPr>
          <a:lstStyle/>
          <a:p>
            <a:pPr algn="l">
              <a:lnSpc>
                <a:spcPts val="4759"/>
              </a:lnSpc>
            </a:pPr>
            <a:r>
              <a:rPr lang="en-US" sz="3399">
                <a:solidFill>
                  <a:srgbClr val="000000"/>
                </a:solidFill>
                <a:latin typeface="Noto Sans"/>
                <a:ea typeface="Noto Sans"/>
                <a:cs typeface="Noto Sans"/>
                <a:sym typeface="Noto Sans"/>
              </a:rPr>
              <a:t>Graph RAG (Knowledge Graph RAG)</a:t>
            </a:r>
          </a:p>
          <a:p>
            <a:pPr algn="l" marL="734059" indent="-367030" lvl="1">
              <a:lnSpc>
                <a:spcPts val="4759"/>
              </a:lnSpc>
              <a:spcBef>
                <a:spcPct val="0"/>
              </a:spcBef>
              <a:buFont typeface="Arial"/>
              <a:buChar char="•"/>
            </a:pPr>
            <a:r>
              <a:rPr lang="en-US" sz="3399">
                <a:solidFill>
                  <a:srgbClr val="000000"/>
                </a:solidFill>
                <a:latin typeface="Noto Sans"/>
                <a:ea typeface="Noto Sans"/>
                <a:cs typeface="Noto Sans"/>
                <a:sym typeface="Noto Sans"/>
              </a:rPr>
              <a:t>Nâng cấp Classic RAG bằng cách xây dựng Knowledge Graph để </a:t>
            </a:r>
            <a:r>
              <a:rPr lang="en-US" sz="3399" strike="noStrike" u="none">
                <a:solidFill>
                  <a:srgbClr val="000000"/>
                </a:solidFill>
                <a:latin typeface="Noto Sans"/>
                <a:ea typeface="Noto Sans"/>
                <a:cs typeface="Noto Sans"/>
                <a:sym typeface="Noto Sans"/>
              </a:rPr>
              <a:t>h</a:t>
            </a:r>
            <a:r>
              <a:rPr lang="en-US" sz="3399" strike="noStrike" u="none">
                <a:solidFill>
                  <a:srgbClr val="000000"/>
                </a:solidFill>
                <a:latin typeface="Noto Sans"/>
                <a:ea typeface="Noto Sans"/>
                <a:cs typeface="Noto Sans"/>
                <a:sym typeface="Noto Sans"/>
              </a:rPr>
              <a:t>iểu </a:t>
            </a:r>
            <a:r>
              <a:rPr lang="en-US" sz="3399" strike="noStrike" u="none">
                <a:solidFill>
                  <a:srgbClr val="000000"/>
                </a:solidFill>
                <a:latin typeface="Noto Sans"/>
                <a:ea typeface="Noto Sans"/>
                <a:cs typeface="Noto Sans"/>
                <a:sym typeface="Noto Sans"/>
              </a:rPr>
              <a:t>m</a:t>
            </a:r>
            <a:r>
              <a:rPr lang="en-US" sz="3399" strike="noStrike" u="none">
                <a:solidFill>
                  <a:srgbClr val="000000"/>
                </a:solidFill>
                <a:latin typeface="Noto Sans"/>
                <a:ea typeface="Noto Sans"/>
                <a:cs typeface="Noto Sans"/>
                <a:sym typeface="Noto Sans"/>
              </a:rPr>
              <a:t>ối</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qua</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 hệ giữa các thực thể trong tài liệu.</a:t>
            </a:r>
          </a:p>
          <a:p>
            <a:pPr algn="l" marL="0" indent="0" lvl="0">
              <a:lnSpc>
                <a:spcPts val="4759"/>
              </a:lnSpc>
              <a:spcBef>
                <a:spcPct val="0"/>
              </a:spcBef>
            </a:pPr>
            <a:r>
              <a:rPr lang="en-US" sz="3399" strike="noStrike" u="none">
                <a:solidFill>
                  <a:srgbClr val="000000"/>
                </a:solidFill>
                <a:latin typeface="Noto Sans"/>
                <a:ea typeface="Noto Sans"/>
                <a:cs typeface="Noto Sans"/>
                <a:sym typeface="Noto Sans"/>
              </a:rPr>
              <a:t>Luồng hoạt động</a:t>
            </a:r>
            <a:r>
              <a:rPr lang="en-US" sz="3399" strike="noStrike" u="none">
                <a:solidFill>
                  <a:srgbClr val="000000"/>
                </a:solidFill>
                <a:latin typeface="Noto Sans"/>
                <a:ea typeface="Noto Sans"/>
                <a:cs typeface="Noto Sans"/>
                <a:sym typeface="Noto Sans"/>
              </a:rPr>
              <a:t>:</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Trích xuất Ent</a:t>
            </a:r>
            <a:r>
              <a:rPr lang="en-US" sz="3399" strike="noStrike" u="none">
                <a:solidFill>
                  <a:srgbClr val="000000"/>
                </a:solidFill>
                <a:latin typeface="Noto Sans"/>
                <a:ea typeface="Noto Sans"/>
                <a:cs typeface="Noto Sans"/>
                <a:sym typeface="Noto Sans"/>
              </a:rPr>
              <a:t>i</a:t>
            </a:r>
            <a:r>
              <a:rPr lang="en-US" sz="3399" strike="noStrike" u="none">
                <a:solidFill>
                  <a:srgbClr val="000000"/>
                </a:solidFill>
                <a:latin typeface="Noto Sans"/>
                <a:ea typeface="Noto Sans"/>
                <a:cs typeface="Noto Sans"/>
                <a:sym typeface="Noto Sans"/>
              </a:rPr>
              <a:t>ties + Relationships từ chunks bằng LLM (Fast Prompt)</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Xây</a:t>
            </a:r>
            <a:r>
              <a:rPr lang="en-US" sz="3399" strike="noStrike" u="none">
                <a:solidFill>
                  <a:srgbClr val="000000"/>
                </a:solidFill>
                <a:latin typeface="Noto Sans"/>
                <a:ea typeface="Noto Sans"/>
                <a:cs typeface="Noto Sans"/>
                <a:sym typeface="Noto Sans"/>
              </a:rPr>
              <a:t> d</a:t>
            </a:r>
            <a:r>
              <a:rPr lang="en-US" sz="3399" strike="noStrike" u="none">
                <a:solidFill>
                  <a:srgbClr val="000000"/>
                </a:solidFill>
                <a:latin typeface="Noto Sans"/>
                <a:ea typeface="Noto Sans"/>
                <a:cs typeface="Noto Sans"/>
                <a:sym typeface="Noto Sans"/>
              </a:rPr>
              <a:t>ự</a:t>
            </a:r>
            <a:r>
              <a:rPr lang="en-US" sz="3399" strike="noStrike" u="none">
                <a:solidFill>
                  <a:srgbClr val="000000"/>
                </a:solidFill>
                <a:latin typeface="Noto Sans"/>
                <a:ea typeface="Noto Sans"/>
                <a:cs typeface="Noto Sans"/>
                <a:sym typeface="Noto Sans"/>
              </a:rPr>
              <a:t>ng </a:t>
            </a:r>
            <a:r>
              <a:rPr lang="en-US" sz="3399" strike="noStrike" u="none">
                <a:solidFill>
                  <a:srgbClr val="000000"/>
                </a:solidFill>
                <a:latin typeface="Noto Sans"/>
                <a:ea typeface="Noto Sans"/>
                <a:cs typeface="Noto Sans"/>
                <a:sym typeface="Noto Sans"/>
              </a:rPr>
              <a:t>đồ thị bằng networkx</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Sử dụng Cache </a:t>
            </a:r>
          </a:p>
          <a:p>
            <a:pPr algn="l" marL="734059" indent="-367030" lvl="1">
              <a:lnSpc>
                <a:spcPts val="4759"/>
              </a:lnSpc>
              <a:spcBef>
                <a:spcPct val="0"/>
              </a:spcBef>
              <a:buFont typeface="Arial"/>
              <a:buChar char="•"/>
            </a:pPr>
            <a:r>
              <a:rPr lang="en-US" sz="3399" strike="noStrike" u="none">
                <a:solidFill>
                  <a:srgbClr val="000000"/>
                </a:solidFill>
                <a:latin typeface="Noto Sans"/>
                <a:ea typeface="Noto Sans"/>
                <a:cs typeface="Noto Sans"/>
                <a:sym typeface="Noto Sans"/>
              </a:rPr>
              <a:t>Retrie</a:t>
            </a:r>
            <a:r>
              <a:rPr lang="en-US" sz="3399" strike="noStrike" u="none">
                <a:solidFill>
                  <a:srgbClr val="000000"/>
                </a:solidFill>
                <a:latin typeface="Noto Sans"/>
                <a:ea typeface="Noto Sans"/>
                <a:cs typeface="Noto Sans"/>
                <a:sym typeface="Noto Sans"/>
              </a:rPr>
              <a:t>v</a:t>
            </a:r>
            <a:r>
              <a:rPr lang="en-US" sz="3399" strike="noStrike" u="none">
                <a:solidFill>
                  <a:srgbClr val="000000"/>
                </a:solidFill>
                <a:latin typeface="Noto Sans"/>
                <a:ea typeface="Noto Sans"/>
                <a:cs typeface="Noto Sans"/>
                <a:sym typeface="Noto Sans"/>
              </a:rPr>
              <a:t>e: Tìm </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ode</a:t>
            </a:r>
            <a:r>
              <a:rPr lang="en-US" sz="3399" strike="noStrike" u="none">
                <a:solidFill>
                  <a:srgbClr val="000000"/>
                </a:solidFill>
                <a:latin typeface="Noto Sans"/>
                <a:ea typeface="Noto Sans"/>
                <a:cs typeface="Noto Sans"/>
                <a:sym typeface="Noto Sans"/>
              </a:rPr>
              <a:t> </a:t>
            </a:r>
            <a:r>
              <a:rPr lang="en-US" sz="3399" strike="noStrike" u="none">
                <a:solidFill>
                  <a:srgbClr val="000000"/>
                </a:solidFill>
                <a:latin typeface="Noto Sans"/>
                <a:ea typeface="Noto Sans"/>
                <a:cs typeface="Noto Sans"/>
                <a:sym typeface="Noto Sans"/>
              </a:rPr>
              <a:t>tươ</a:t>
            </a:r>
            <a:r>
              <a:rPr lang="en-US" sz="3399" strike="noStrike" u="none">
                <a:solidFill>
                  <a:srgbClr val="000000"/>
                </a:solidFill>
                <a:latin typeface="Noto Sans"/>
                <a:ea typeface="Noto Sans"/>
                <a:cs typeface="Noto Sans"/>
                <a:sym typeface="Noto Sans"/>
              </a:rPr>
              <a:t>n</a:t>
            </a:r>
            <a:r>
              <a:rPr lang="en-US" sz="3399" strike="noStrike" u="none">
                <a:solidFill>
                  <a:srgbClr val="000000"/>
                </a:solidFill>
                <a:latin typeface="Noto Sans"/>
                <a:ea typeface="Noto Sans"/>
                <a:cs typeface="Noto Sans"/>
                <a:sym typeface="Noto Sans"/>
              </a:rPr>
              <a:t>g đồng → lan qua các mối quan hệ (Graph Traversal)</a:t>
            </a:r>
          </a:p>
          <a:p>
            <a:pPr algn="l" marL="0" indent="0" lvl="0">
              <a:lnSpc>
                <a:spcPts val="475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4695454" y="6826250"/>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323224" y="4471694"/>
            <a:ext cx="13966840" cy="1142868"/>
          </a:xfrm>
          <a:prstGeom prst="rect">
            <a:avLst/>
          </a:prstGeom>
        </p:spPr>
        <p:txBody>
          <a:bodyPr anchor="t" rtlCol="false" tIns="0" lIns="0" bIns="0" rIns="0">
            <a:spAutoFit/>
          </a:bodyPr>
          <a:lstStyle/>
          <a:p>
            <a:pPr algn="just">
              <a:lnSpc>
                <a:spcPts val="8535"/>
              </a:lnSpc>
            </a:pPr>
            <a:r>
              <a:rPr lang="en-US" b="true" sz="8799">
                <a:solidFill>
                  <a:srgbClr val="000000"/>
                </a:solidFill>
                <a:latin typeface="Oswald Bold"/>
                <a:ea typeface="Oswald Bold"/>
                <a:cs typeface="Oswald Bold"/>
                <a:sym typeface="Oswald Bold"/>
              </a:rPr>
              <a:t>LUỒNG HOẠT ĐỘNG CỦA DỰ ÁN</a:t>
            </a:r>
          </a:p>
        </p:txBody>
      </p:sp>
      <p:sp>
        <p:nvSpPr>
          <p:cNvPr name="Freeform 4" id="4"/>
          <p:cNvSpPr/>
          <p:nvPr/>
        </p:nvSpPr>
        <p:spPr>
          <a:xfrm flipH="false" flipV="false" rot="0">
            <a:off x="-2080009" y="-1519728"/>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925053" y="0"/>
            <a:ext cx="14437895" cy="10287000"/>
          </a:xfrm>
          <a:custGeom>
            <a:avLst/>
            <a:gdLst/>
            <a:ahLst/>
            <a:cxnLst/>
            <a:rect r="r" b="b" t="t" l="l"/>
            <a:pathLst>
              <a:path h="10287000" w="14437895">
                <a:moveTo>
                  <a:pt x="0" y="0"/>
                </a:moveTo>
                <a:lnTo>
                  <a:pt x="14437894" y="0"/>
                </a:lnTo>
                <a:lnTo>
                  <a:pt x="14437894" y="10287000"/>
                </a:lnTo>
                <a:lnTo>
                  <a:pt x="0" y="10287000"/>
                </a:lnTo>
                <a:lnTo>
                  <a:pt x="0" y="0"/>
                </a:lnTo>
                <a:close/>
              </a:path>
            </a:pathLst>
          </a:custGeom>
          <a:blipFill>
            <a:blip r:embed="rId2"/>
            <a:stretch>
              <a:fillRect l="0" t="0" r="0" b="0"/>
            </a:stretch>
          </a:blipFill>
        </p:spPr>
      </p:sp>
      <p:sp>
        <p:nvSpPr>
          <p:cNvPr name="Freeform 3" id="3"/>
          <p:cNvSpPr/>
          <p:nvPr/>
        </p:nvSpPr>
        <p:spPr>
          <a:xfrm flipH="true" flipV="false" rot="0">
            <a:off x="13597698" y="-1769921"/>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580035" y="6881406"/>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3108709" y="7013575"/>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597698" y="-1769921"/>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383577" y="0"/>
            <a:ext cx="11520845" cy="10287000"/>
          </a:xfrm>
          <a:custGeom>
            <a:avLst/>
            <a:gdLst/>
            <a:ahLst/>
            <a:cxnLst/>
            <a:rect r="r" b="b" t="t" l="l"/>
            <a:pathLst>
              <a:path h="10287000" w="11520845">
                <a:moveTo>
                  <a:pt x="0" y="0"/>
                </a:moveTo>
                <a:lnTo>
                  <a:pt x="11520846" y="0"/>
                </a:lnTo>
                <a:lnTo>
                  <a:pt x="11520846" y="10287000"/>
                </a:lnTo>
                <a:lnTo>
                  <a:pt x="0" y="10287000"/>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4849651" y="6804222"/>
            <a:ext cx="6217418" cy="4114800"/>
          </a:xfrm>
          <a:custGeom>
            <a:avLst/>
            <a:gdLst/>
            <a:ahLst/>
            <a:cxnLst/>
            <a:rect r="r" b="b" t="t" l="l"/>
            <a:pathLst>
              <a:path h="4114800" w="6217418">
                <a:moveTo>
                  <a:pt x="0" y="0"/>
                </a:moveTo>
                <a:lnTo>
                  <a:pt x="6217417" y="0"/>
                </a:lnTo>
                <a:lnTo>
                  <a:pt x="621741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25812" y="-1541756"/>
            <a:ext cx="6217418" cy="4114800"/>
          </a:xfrm>
          <a:custGeom>
            <a:avLst/>
            <a:gdLst/>
            <a:ahLst/>
            <a:cxnLst/>
            <a:rect r="r" b="b" t="t" l="l"/>
            <a:pathLst>
              <a:path h="4114800" w="6217418">
                <a:moveTo>
                  <a:pt x="0" y="0"/>
                </a:moveTo>
                <a:lnTo>
                  <a:pt x="6217417" y="0"/>
                </a:lnTo>
                <a:lnTo>
                  <a:pt x="621741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5231" y="725194"/>
            <a:ext cx="11157383" cy="1260656"/>
          </a:xfrm>
          <a:prstGeom prst="rect">
            <a:avLst/>
          </a:prstGeom>
        </p:spPr>
        <p:txBody>
          <a:bodyPr anchor="t" rtlCol="false" tIns="0" lIns="0" bIns="0" rIns="0">
            <a:spAutoFit/>
          </a:bodyPr>
          <a:lstStyle/>
          <a:p>
            <a:pPr algn="l">
              <a:lnSpc>
                <a:spcPts val="9391"/>
              </a:lnSpc>
            </a:pPr>
            <a:r>
              <a:rPr lang="en-US" sz="9682" b="true">
                <a:solidFill>
                  <a:srgbClr val="000000"/>
                </a:solidFill>
                <a:latin typeface="Oswald Bold"/>
                <a:ea typeface="Oswald Bold"/>
                <a:cs typeface="Oswald Bold"/>
                <a:sym typeface="Oswald Bold"/>
              </a:rPr>
              <a:t>ƯU ĐIỂM</a:t>
            </a:r>
          </a:p>
        </p:txBody>
      </p:sp>
      <p:sp>
        <p:nvSpPr>
          <p:cNvPr name="TextBox 5" id="5"/>
          <p:cNvSpPr txBox="true"/>
          <p:nvPr/>
        </p:nvSpPr>
        <p:spPr>
          <a:xfrm rot="0">
            <a:off x="1182897" y="3450055"/>
            <a:ext cx="15671363" cy="4295775"/>
          </a:xfrm>
          <a:prstGeom prst="rect">
            <a:avLst/>
          </a:prstGeom>
        </p:spPr>
        <p:txBody>
          <a:bodyPr anchor="t" rtlCol="false" tIns="0" lIns="0" bIns="0" rIns="0">
            <a:spAutoFit/>
          </a:bodyPr>
          <a:lstStyle/>
          <a:p>
            <a:pPr algn="l" marL="1295400" indent="-647700" lvl="1">
              <a:lnSpc>
                <a:spcPts val="8400"/>
              </a:lnSpc>
              <a:buFont typeface="Arial"/>
              <a:buChar char="•"/>
            </a:pPr>
            <a:r>
              <a:rPr lang="en-US" sz="6000" strike="noStrike" u="none">
                <a:solidFill>
                  <a:srgbClr val="000000"/>
                </a:solidFill>
                <a:latin typeface="Poppins"/>
                <a:ea typeface="Poppins"/>
                <a:cs typeface="Poppins"/>
                <a:sym typeface="Poppins"/>
              </a:rPr>
              <a:t>T</a:t>
            </a:r>
            <a:r>
              <a:rPr lang="en-US" sz="6000" strike="noStrike" u="none">
                <a:solidFill>
                  <a:srgbClr val="000000"/>
                </a:solidFill>
                <a:latin typeface="Poppins"/>
                <a:ea typeface="Poppins"/>
                <a:cs typeface="Poppins"/>
                <a:sym typeface="Poppins"/>
              </a:rPr>
              <a:t>ăng</a:t>
            </a:r>
            <a:r>
              <a:rPr lang="en-US" sz="6000" strike="noStrike" u="none">
                <a:solidFill>
                  <a:srgbClr val="000000"/>
                </a:solidFill>
                <a:latin typeface="Poppins"/>
                <a:ea typeface="Poppins"/>
                <a:cs typeface="Poppins"/>
                <a:sym typeface="Poppins"/>
              </a:rPr>
              <a:t> </a:t>
            </a:r>
            <a:r>
              <a:rPr lang="en-US" sz="6000" strike="noStrike" u="none">
                <a:solidFill>
                  <a:srgbClr val="000000"/>
                </a:solidFill>
                <a:latin typeface="Poppins"/>
                <a:ea typeface="Poppins"/>
                <a:cs typeface="Poppins"/>
                <a:sym typeface="Poppins"/>
              </a:rPr>
              <a:t>đ</a:t>
            </a:r>
            <a:r>
              <a:rPr lang="en-US" sz="6000" strike="noStrike" u="none">
                <a:solidFill>
                  <a:srgbClr val="000000"/>
                </a:solidFill>
                <a:latin typeface="Poppins"/>
                <a:ea typeface="Poppins"/>
                <a:cs typeface="Poppins"/>
                <a:sym typeface="Poppins"/>
              </a:rPr>
              <a:t>ộ </a:t>
            </a:r>
            <a:r>
              <a:rPr lang="en-US" sz="6000" strike="noStrike" u="none">
                <a:solidFill>
                  <a:srgbClr val="000000"/>
                </a:solidFill>
                <a:latin typeface="Poppins"/>
                <a:ea typeface="Poppins"/>
                <a:cs typeface="Poppins"/>
                <a:sym typeface="Poppins"/>
              </a:rPr>
              <a:t>chí</a:t>
            </a:r>
            <a:r>
              <a:rPr lang="en-US" sz="6000" strike="noStrike" u="none">
                <a:solidFill>
                  <a:srgbClr val="000000"/>
                </a:solidFill>
                <a:latin typeface="Poppins"/>
                <a:ea typeface="Poppins"/>
                <a:cs typeface="Poppins"/>
                <a:sym typeface="Poppins"/>
              </a:rPr>
              <a:t>n</a:t>
            </a:r>
            <a:r>
              <a:rPr lang="en-US" sz="6000" strike="noStrike" u="none">
                <a:solidFill>
                  <a:srgbClr val="000000"/>
                </a:solidFill>
                <a:latin typeface="Poppins"/>
                <a:ea typeface="Poppins"/>
                <a:cs typeface="Poppins"/>
                <a:sym typeface="Poppins"/>
              </a:rPr>
              <a:t>h xác</a:t>
            </a:r>
            <a:r>
              <a:rPr lang="en-US" sz="6000" strike="noStrike" u="none">
                <a:solidFill>
                  <a:srgbClr val="000000"/>
                </a:solidFill>
                <a:latin typeface="Poppins"/>
                <a:ea typeface="Poppins"/>
                <a:cs typeface="Poppins"/>
                <a:sym typeface="Poppins"/>
              </a:rPr>
              <a:t> v</a:t>
            </a:r>
            <a:r>
              <a:rPr lang="en-US" sz="6000" strike="noStrike" u="none">
                <a:solidFill>
                  <a:srgbClr val="000000"/>
                </a:solidFill>
                <a:latin typeface="Poppins"/>
                <a:ea typeface="Poppins"/>
                <a:cs typeface="Poppins"/>
                <a:sym typeface="Poppins"/>
              </a:rPr>
              <a:t>à tí</a:t>
            </a:r>
            <a:r>
              <a:rPr lang="en-US" sz="6000" strike="noStrike" u="none">
                <a:solidFill>
                  <a:srgbClr val="000000"/>
                </a:solidFill>
                <a:latin typeface="Poppins"/>
                <a:ea typeface="Poppins"/>
                <a:cs typeface="Poppins"/>
                <a:sym typeface="Poppins"/>
              </a:rPr>
              <a:t>n</a:t>
            </a:r>
            <a:r>
              <a:rPr lang="en-US" sz="6000" strike="noStrike" u="none">
                <a:solidFill>
                  <a:srgbClr val="000000"/>
                </a:solidFill>
                <a:latin typeface="Poppins"/>
                <a:ea typeface="Poppins"/>
                <a:cs typeface="Poppins"/>
                <a:sym typeface="Poppins"/>
              </a:rPr>
              <a:t>h</a:t>
            </a:r>
            <a:r>
              <a:rPr lang="en-US" sz="6000" strike="noStrike" u="none">
                <a:solidFill>
                  <a:srgbClr val="000000"/>
                </a:solidFill>
                <a:latin typeface="Poppins"/>
                <a:ea typeface="Poppins"/>
                <a:cs typeface="Poppins"/>
                <a:sym typeface="Poppins"/>
              </a:rPr>
              <a:t> </a:t>
            </a:r>
            <a:r>
              <a:rPr lang="en-US" sz="6000" strike="noStrike" u="none">
                <a:solidFill>
                  <a:srgbClr val="000000"/>
                </a:solidFill>
                <a:latin typeface="Poppins"/>
                <a:ea typeface="Poppins"/>
                <a:cs typeface="Poppins"/>
                <a:sym typeface="Poppins"/>
              </a:rPr>
              <a:t>mi</a:t>
            </a:r>
            <a:r>
              <a:rPr lang="en-US" sz="6000" strike="noStrike" u="none">
                <a:solidFill>
                  <a:srgbClr val="000000"/>
                </a:solidFill>
                <a:latin typeface="Poppins"/>
                <a:ea typeface="Poppins"/>
                <a:cs typeface="Poppins"/>
                <a:sym typeface="Poppins"/>
              </a:rPr>
              <a:t>n</a:t>
            </a:r>
            <a:r>
              <a:rPr lang="en-US" sz="6000" strike="noStrike" u="none">
                <a:solidFill>
                  <a:srgbClr val="000000"/>
                </a:solidFill>
                <a:latin typeface="Poppins"/>
                <a:ea typeface="Poppins"/>
                <a:cs typeface="Poppins"/>
                <a:sym typeface="Poppins"/>
              </a:rPr>
              <a:t>h bạch</a:t>
            </a:r>
          </a:p>
          <a:p>
            <a:pPr algn="l" marL="1295400" indent="-647700" lvl="1">
              <a:lnSpc>
                <a:spcPts val="8400"/>
              </a:lnSpc>
              <a:buFont typeface="Arial"/>
              <a:buChar char="•"/>
            </a:pPr>
            <a:r>
              <a:rPr lang="en-US" sz="6000" strike="noStrike" u="none">
                <a:solidFill>
                  <a:srgbClr val="000000"/>
                </a:solidFill>
                <a:latin typeface="Poppins"/>
                <a:ea typeface="Poppins"/>
                <a:cs typeface="Poppins"/>
                <a:sym typeface="Poppins"/>
              </a:rPr>
              <a:t>Cập nhật tri thức nhanh chóng</a:t>
            </a:r>
          </a:p>
          <a:p>
            <a:pPr algn="l" marL="1295400" indent="-647700" lvl="1">
              <a:lnSpc>
                <a:spcPts val="8400"/>
              </a:lnSpc>
              <a:buFont typeface="Arial"/>
              <a:buChar char="•"/>
            </a:pPr>
            <a:r>
              <a:rPr lang="en-US" sz="6000" strike="noStrike" u="none">
                <a:solidFill>
                  <a:srgbClr val="000000"/>
                </a:solidFill>
                <a:latin typeface="Poppins"/>
                <a:ea typeface="Poppins"/>
                <a:cs typeface="Poppins"/>
                <a:sym typeface="Poppins"/>
              </a:rPr>
              <a:t>Tiết kiệm chi phí và thời gian triển khai</a:t>
            </a:r>
          </a:p>
          <a:p>
            <a:pPr algn="l" marL="1295400" indent="-647700" lvl="1">
              <a:lnSpc>
                <a:spcPts val="8400"/>
              </a:lnSpc>
              <a:buFont typeface="Arial"/>
              <a:buChar char="•"/>
            </a:pPr>
            <a:r>
              <a:rPr lang="en-US" sz="6000" strike="noStrike" u="none">
                <a:solidFill>
                  <a:srgbClr val="000000"/>
                </a:solidFill>
                <a:latin typeface="Poppins"/>
                <a:ea typeface="Poppins"/>
                <a:cs typeface="Poppins"/>
                <a:sym typeface="Poppins"/>
              </a:rPr>
              <a:t>Nâng cao trải nghiệm người dùng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4849651" y="6804222"/>
            <a:ext cx="6217418" cy="4114800"/>
          </a:xfrm>
          <a:custGeom>
            <a:avLst/>
            <a:gdLst/>
            <a:ahLst/>
            <a:cxnLst/>
            <a:rect r="r" b="b" t="t" l="l"/>
            <a:pathLst>
              <a:path h="4114800" w="6217418">
                <a:moveTo>
                  <a:pt x="0" y="0"/>
                </a:moveTo>
                <a:lnTo>
                  <a:pt x="6217417" y="0"/>
                </a:lnTo>
                <a:lnTo>
                  <a:pt x="621741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25812" y="-1541756"/>
            <a:ext cx="6217418" cy="4114800"/>
          </a:xfrm>
          <a:custGeom>
            <a:avLst/>
            <a:gdLst/>
            <a:ahLst/>
            <a:cxnLst/>
            <a:rect r="r" b="b" t="t" l="l"/>
            <a:pathLst>
              <a:path h="4114800" w="6217418">
                <a:moveTo>
                  <a:pt x="0" y="0"/>
                </a:moveTo>
                <a:lnTo>
                  <a:pt x="6217417" y="0"/>
                </a:lnTo>
                <a:lnTo>
                  <a:pt x="621741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85231" y="725194"/>
            <a:ext cx="11157383" cy="1260656"/>
          </a:xfrm>
          <a:prstGeom prst="rect">
            <a:avLst/>
          </a:prstGeom>
        </p:spPr>
        <p:txBody>
          <a:bodyPr anchor="t" rtlCol="false" tIns="0" lIns="0" bIns="0" rIns="0">
            <a:spAutoFit/>
          </a:bodyPr>
          <a:lstStyle/>
          <a:p>
            <a:pPr algn="l">
              <a:lnSpc>
                <a:spcPts val="9391"/>
              </a:lnSpc>
            </a:pPr>
            <a:r>
              <a:rPr lang="en-US" sz="9682" b="true">
                <a:solidFill>
                  <a:srgbClr val="000000"/>
                </a:solidFill>
                <a:latin typeface="Oswald Bold"/>
                <a:ea typeface="Oswald Bold"/>
                <a:cs typeface="Oswald Bold"/>
                <a:sym typeface="Oswald Bold"/>
              </a:rPr>
              <a:t>HẠN CHẾ</a:t>
            </a:r>
          </a:p>
        </p:txBody>
      </p:sp>
      <p:sp>
        <p:nvSpPr>
          <p:cNvPr name="TextBox 5" id="5"/>
          <p:cNvSpPr txBox="true"/>
          <p:nvPr/>
        </p:nvSpPr>
        <p:spPr>
          <a:xfrm rot="0">
            <a:off x="857413" y="3247693"/>
            <a:ext cx="17100947" cy="5305535"/>
          </a:xfrm>
          <a:prstGeom prst="rect">
            <a:avLst/>
          </a:prstGeom>
        </p:spPr>
        <p:txBody>
          <a:bodyPr anchor="t" rtlCol="false" tIns="0" lIns="0" bIns="0" rIns="0">
            <a:spAutoFit/>
          </a:bodyPr>
          <a:lstStyle/>
          <a:p>
            <a:pPr algn="l" marL="1294462" indent="-647231" lvl="1">
              <a:lnSpc>
                <a:spcPts val="8393"/>
              </a:lnSpc>
              <a:buFont typeface="Arial"/>
              <a:buChar char="•"/>
            </a:pPr>
            <a:r>
              <a:rPr lang="en-US" sz="5995">
                <a:solidFill>
                  <a:srgbClr val="000000"/>
                </a:solidFill>
                <a:latin typeface="Poppins"/>
                <a:ea typeface="Poppins"/>
                <a:cs typeface="Poppins"/>
                <a:sym typeface="Poppins"/>
              </a:rPr>
              <a:t>Độ trễ phản hồi cao</a:t>
            </a:r>
          </a:p>
          <a:p>
            <a:pPr algn="l" marL="1294462" indent="-647231" lvl="1">
              <a:lnSpc>
                <a:spcPts val="8393"/>
              </a:lnSpc>
              <a:buFont typeface="Arial"/>
              <a:buChar char="•"/>
            </a:pPr>
            <a:r>
              <a:rPr lang="en-US" sz="5995">
                <a:solidFill>
                  <a:srgbClr val="000000"/>
                </a:solidFill>
                <a:latin typeface="Poppins"/>
                <a:ea typeface="Poppins"/>
                <a:cs typeface="Poppins"/>
                <a:sym typeface="Poppins"/>
              </a:rPr>
              <a:t>Phụ</a:t>
            </a:r>
            <a:r>
              <a:rPr lang="en-US" sz="5995" strike="noStrike" u="none">
                <a:solidFill>
                  <a:srgbClr val="000000"/>
                </a:solidFill>
                <a:latin typeface="Poppins"/>
                <a:ea typeface="Poppins"/>
                <a:cs typeface="Poppins"/>
                <a:sym typeface="Poppins"/>
              </a:rPr>
              <a:t> thuộc vào chất lượng dữ liệu truy xuất</a:t>
            </a:r>
          </a:p>
          <a:p>
            <a:pPr algn="l" marL="1294462" indent="-647231" lvl="1">
              <a:lnSpc>
                <a:spcPts val="8393"/>
              </a:lnSpc>
              <a:buFont typeface="Arial"/>
              <a:buChar char="•"/>
            </a:pPr>
            <a:r>
              <a:rPr lang="en-US" sz="5995" strike="noStrike" u="none">
                <a:solidFill>
                  <a:srgbClr val="000000"/>
                </a:solidFill>
                <a:latin typeface="Poppins"/>
                <a:ea typeface="Poppins"/>
                <a:cs typeface="Poppins"/>
                <a:sym typeface="Poppins"/>
              </a:rPr>
              <a:t>Độ phức tạp trong triển khai</a:t>
            </a:r>
          </a:p>
          <a:p>
            <a:pPr algn="l" marL="1294462" indent="-647231" lvl="1">
              <a:lnSpc>
                <a:spcPts val="8393"/>
              </a:lnSpc>
              <a:buFont typeface="Arial"/>
              <a:buChar char="•"/>
            </a:pPr>
            <a:r>
              <a:rPr lang="en-US" sz="5995" strike="noStrike" u="none">
                <a:solidFill>
                  <a:srgbClr val="000000"/>
                </a:solidFill>
                <a:latin typeface="Poppins"/>
                <a:ea typeface="Poppins"/>
                <a:cs typeface="Poppins"/>
                <a:sym typeface="Poppins"/>
              </a:rPr>
              <a:t>Yêu cầu tài nguyên cho xử lý dữ liệu lớn</a:t>
            </a:r>
          </a:p>
          <a:p>
            <a:pPr algn="l">
              <a:lnSpc>
                <a:spcPts val="8393"/>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13597698" y="-1769921"/>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33280" y="5387496"/>
            <a:ext cx="7524127" cy="4677580"/>
          </a:xfrm>
          <a:custGeom>
            <a:avLst/>
            <a:gdLst/>
            <a:ahLst/>
            <a:cxnLst/>
            <a:rect r="r" b="b" t="t" l="l"/>
            <a:pathLst>
              <a:path h="4677580" w="7524127">
                <a:moveTo>
                  <a:pt x="0" y="0"/>
                </a:moveTo>
                <a:lnTo>
                  <a:pt x="7524127" y="0"/>
                </a:lnTo>
                <a:lnTo>
                  <a:pt x="7524127" y="4677580"/>
                </a:lnTo>
                <a:lnTo>
                  <a:pt x="0" y="4677580"/>
                </a:lnTo>
                <a:lnTo>
                  <a:pt x="0" y="0"/>
                </a:lnTo>
                <a:close/>
              </a:path>
            </a:pathLst>
          </a:custGeom>
          <a:blipFill>
            <a:blip r:embed="rId4"/>
            <a:stretch>
              <a:fillRect l="0" t="0" r="-1914" b="0"/>
            </a:stretch>
          </a:blipFill>
        </p:spPr>
      </p:sp>
      <p:sp>
        <p:nvSpPr>
          <p:cNvPr name="TextBox 4" id="4"/>
          <p:cNvSpPr txBox="true"/>
          <p:nvPr/>
        </p:nvSpPr>
        <p:spPr>
          <a:xfrm rot="0">
            <a:off x="269279" y="3129281"/>
            <a:ext cx="14026065" cy="3050391"/>
          </a:xfrm>
          <a:prstGeom prst="rect">
            <a:avLst/>
          </a:prstGeom>
        </p:spPr>
        <p:txBody>
          <a:bodyPr anchor="t" rtlCol="false" tIns="0" lIns="0" bIns="0" rIns="0">
            <a:spAutoFit/>
          </a:bodyPr>
          <a:lstStyle/>
          <a:p>
            <a:pPr algn="l" marL="749811" indent="-374906" lvl="1">
              <a:lnSpc>
                <a:spcPts val="4862"/>
              </a:lnSpc>
              <a:buFont typeface="Arial"/>
              <a:buChar char="•"/>
            </a:pPr>
            <a:r>
              <a:rPr lang="en-US" sz="3472">
                <a:solidFill>
                  <a:srgbClr val="000000"/>
                </a:solidFill>
                <a:latin typeface="Poppins"/>
                <a:ea typeface="Poppins"/>
                <a:cs typeface="Poppins"/>
                <a:sym typeface="Poppins"/>
              </a:rPr>
              <a:t>Hệ thống hỏ</a:t>
            </a:r>
            <a:r>
              <a:rPr lang="en-US" sz="3472">
                <a:solidFill>
                  <a:srgbClr val="000000"/>
                </a:solidFill>
                <a:latin typeface="Poppins"/>
                <a:ea typeface="Poppins"/>
                <a:cs typeface="Poppins"/>
                <a:sym typeface="Poppins"/>
              </a:rPr>
              <a:t>i đáp và chatbot thông minh</a:t>
            </a:r>
          </a:p>
          <a:p>
            <a:pPr algn="l" marL="749811" indent="-374906" lvl="1">
              <a:lnSpc>
                <a:spcPts val="4862"/>
              </a:lnSpc>
              <a:buFont typeface="Arial"/>
              <a:buChar char="•"/>
            </a:pPr>
            <a:r>
              <a:rPr lang="en-US" sz="3472">
                <a:solidFill>
                  <a:srgbClr val="000000"/>
                </a:solidFill>
                <a:latin typeface="Poppins"/>
                <a:ea typeface="Poppins"/>
                <a:cs typeface="Poppins"/>
                <a:sym typeface="Poppins"/>
              </a:rPr>
              <a:t>Công cụ tìm kiếm thế hệ mới</a:t>
            </a:r>
          </a:p>
          <a:p>
            <a:pPr algn="l" marL="749811" indent="-374906" lvl="1">
              <a:lnSpc>
                <a:spcPts val="4862"/>
              </a:lnSpc>
              <a:buFont typeface="Arial"/>
              <a:buChar char="•"/>
            </a:pPr>
            <a:r>
              <a:rPr lang="en-US" sz="3472">
                <a:solidFill>
                  <a:srgbClr val="000000"/>
                </a:solidFill>
                <a:latin typeface="Poppins"/>
                <a:ea typeface="Poppins"/>
                <a:cs typeface="Poppins"/>
                <a:sym typeface="Poppins"/>
              </a:rPr>
              <a:t>Phân tích và tra cứu dữ liệu trong doanh nghiệp</a:t>
            </a:r>
          </a:p>
          <a:p>
            <a:pPr algn="l" marL="749811" indent="-374906" lvl="1">
              <a:lnSpc>
                <a:spcPts val="4862"/>
              </a:lnSpc>
              <a:buFont typeface="Arial"/>
              <a:buChar char="•"/>
            </a:pPr>
            <a:r>
              <a:rPr lang="en-US" sz="3472">
                <a:solidFill>
                  <a:srgbClr val="000000"/>
                </a:solidFill>
                <a:latin typeface="Poppins"/>
                <a:ea typeface="Poppins"/>
                <a:cs typeface="Poppins"/>
                <a:sym typeface="Poppins"/>
              </a:rPr>
              <a:t>Ứng dụng trong y tế và tài chính</a:t>
            </a:r>
          </a:p>
          <a:p>
            <a:pPr algn="l" marL="749811" indent="-374906" lvl="1">
              <a:lnSpc>
                <a:spcPts val="4862"/>
              </a:lnSpc>
              <a:buFont typeface="Arial"/>
              <a:buChar char="•"/>
            </a:pPr>
            <a:r>
              <a:rPr lang="en-US" sz="3472">
                <a:solidFill>
                  <a:srgbClr val="000000"/>
                </a:solidFill>
                <a:latin typeface="Poppins"/>
                <a:ea typeface="Poppins"/>
                <a:cs typeface="Poppins"/>
                <a:sym typeface="Poppins"/>
              </a:rPr>
              <a:t>Hỗ trợ nghiên cứu và giáo dục</a:t>
            </a:r>
          </a:p>
        </p:txBody>
      </p:sp>
      <p:sp>
        <p:nvSpPr>
          <p:cNvPr name="TextBox 5" id="5"/>
          <p:cNvSpPr txBox="true"/>
          <p:nvPr/>
        </p:nvSpPr>
        <p:spPr>
          <a:xfrm rot="0">
            <a:off x="0" y="1209675"/>
            <a:ext cx="13571528" cy="2014856"/>
          </a:xfrm>
          <a:prstGeom prst="rect">
            <a:avLst/>
          </a:prstGeom>
        </p:spPr>
        <p:txBody>
          <a:bodyPr anchor="t" rtlCol="false" tIns="0" lIns="0" bIns="0" rIns="0">
            <a:spAutoFit/>
          </a:bodyPr>
          <a:lstStyle/>
          <a:p>
            <a:pPr algn="ctr">
              <a:lnSpc>
                <a:spcPts val="7760"/>
              </a:lnSpc>
            </a:pPr>
            <a:r>
              <a:rPr lang="en-US" b="true" sz="8000">
                <a:solidFill>
                  <a:srgbClr val="000000"/>
                </a:solidFill>
                <a:latin typeface="Oswald Bold"/>
                <a:ea typeface="Oswald Bold"/>
                <a:cs typeface="Oswald Bold"/>
                <a:sym typeface="Oswald Bold"/>
              </a:rPr>
              <a:t>ỨNG DỤNG THỰC </a:t>
            </a:r>
            <a:r>
              <a:rPr lang="en-US" b="true" sz="8000">
                <a:solidFill>
                  <a:srgbClr val="000000"/>
                </a:solidFill>
                <a:latin typeface="Oswald Bold"/>
                <a:ea typeface="Oswald Bold"/>
                <a:cs typeface="Oswald Bold"/>
                <a:sym typeface="Oswald Bold"/>
              </a:rPr>
              <a:t>TẾ CỦA RAG</a:t>
            </a:r>
          </a:p>
          <a:p>
            <a:pPr algn="ctr">
              <a:lnSpc>
                <a:spcPts val="776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028700" y="3891352"/>
            <a:ext cx="15566770" cy="2378972"/>
          </a:xfrm>
          <a:prstGeom prst="rect">
            <a:avLst/>
          </a:prstGeom>
        </p:spPr>
        <p:txBody>
          <a:bodyPr anchor="t" rtlCol="false" tIns="0" lIns="0" bIns="0" rIns="0">
            <a:spAutoFit/>
          </a:bodyPr>
          <a:lstStyle/>
          <a:p>
            <a:pPr algn="just" marL="0" indent="0" lvl="0">
              <a:lnSpc>
                <a:spcPts val="17752"/>
              </a:lnSpc>
              <a:spcBef>
                <a:spcPct val="0"/>
              </a:spcBef>
            </a:pPr>
            <a:r>
              <a:rPr lang="en-US" b="true" sz="18301" strike="noStrike" u="none">
                <a:solidFill>
                  <a:srgbClr val="000000"/>
                </a:solidFill>
                <a:latin typeface="Oswald Bold"/>
                <a:ea typeface="Oswald Bold"/>
                <a:cs typeface="Oswald Bold"/>
                <a:sym typeface="Oswald Bold"/>
              </a:rPr>
              <a:t>THANK YOU</a:t>
            </a:r>
          </a:p>
        </p:txBody>
      </p:sp>
      <p:sp>
        <p:nvSpPr>
          <p:cNvPr name="Freeform 3" id="3"/>
          <p:cNvSpPr/>
          <p:nvPr/>
        </p:nvSpPr>
        <p:spPr>
          <a:xfrm flipH="true" flipV="false" rot="0">
            <a:off x="11568466" y="-1773049"/>
            <a:ext cx="9225459" cy="6105576"/>
          </a:xfrm>
          <a:custGeom>
            <a:avLst/>
            <a:gdLst/>
            <a:ahLst/>
            <a:cxnLst/>
            <a:rect r="r" b="b" t="t" l="l"/>
            <a:pathLst>
              <a:path h="6105576" w="9225459">
                <a:moveTo>
                  <a:pt x="9225459" y="0"/>
                </a:moveTo>
                <a:lnTo>
                  <a:pt x="0" y="0"/>
                </a:lnTo>
                <a:lnTo>
                  <a:pt x="0" y="6105576"/>
                </a:lnTo>
                <a:lnTo>
                  <a:pt x="9225459" y="6105576"/>
                </a:lnTo>
                <a:lnTo>
                  <a:pt x="922545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2699521" y="7046525"/>
            <a:ext cx="6217418" cy="4114800"/>
          </a:xfrm>
          <a:custGeom>
            <a:avLst/>
            <a:gdLst/>
            <a:ahLst/>
            <a:cxnLst/>
            <a:rect r="r" b="b" t="t" l="l"/>
            <a:pathLst>
              <a:path h="4114800" w="6217418">
                <a:moveTo>
                  <a:pt x="6217418" y="0"/>
                </a:moveTo>
                <a:lnTo>
                  <a:pt x="0" y="0"/>
                </a:lnTo>
                <a:lnTo>
                  <a:pt x="0" y="4114800"/>
                </a:lnTo>
                <a:lnTo>
                  <a:pt x="6217418" y="4114800"/>
                </a:lnTo>
                <a:lnTo>
                  <a:pt x="621741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28700" y="1028700"/>
            <a:ext cx="2018178" cy="502078"/>
            <a:chOff x="0" y="0"/>
            <a:chExt cx="2690905" cy="669437"/>
          </a:xfrm>
        </p:grpSpPr>
        <p:sp>
          <p:nvSpPr>
            <p:cNvPr name="Freeform 6" id="6"/>
            <p:cNvSpPr/>
            <p:nvPr/>
          </p:nvSpPr>
          <p:spPr>
            <a:xfrm flipH="false" flipV="false" rot="0">
              <a:off x="0" y="0"/>
              <a:ext cx="669437" cy="669437"/>
            </a:xfrm>
            <a:custGeom>
              <a:avLst/>
              <a:gdLst/>
              <a:ahLst/>
              <a:cxnLst/>
              <a:rect r="r" b="b" t="t" l="l"/>
              <a:pathLst>
                <a:path h="669437" w="669437">
                  <a:moveTo>
                    <a:pt x="0" y="0"/>
                  </a:moveTo>
                  <a:lnTo>
                    <a:pt x="669437" y="0"/>
                  </a:lnTo>
                  <a:lnTo>
                    <a:pt x="669437" y="669437"/>
                  </a:lnTo>
                  <a:lnTo>
                    <a:pt x="0" y="669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12309" y="18277"/>
              <a:ext cx="2478596" cy="566208"/>
            </a:xfrm>
            <a:prstGeom prst="rect">
              <a:avLst/>
            </a:prstGeom>
          </p:spPr>
          <p:txBody>
            <a:bodyPr anchor="t" rtlCol="false" tIns="0" lIns="0" bIns="0" rIns="0">
              <a:spAutoFit/>
            </a:bodyPr>
            <a:lstStyle/>
            <a:p>
              <a:pPr algn="r">
                <a:lnSpc>
                  <a:spcPts val="3499"/>
                </a:lnSpc>
                <a:spcBef>
                  <a:spcPct val="0"/>
                </a:spcBef>
              </a:pPr>
              <a:r>
                <a:rPr lang="en-US" sz="2499">
                  <a:solidFill>
                    <a:srgbClr val="000000"/>
                  </a:solidFill>
                  <a:latin typeface="Poppins"/>
                  <a:ea typeface="Poppins"/>
                  <a:cs typeface="Poppins"/>
                  <a:sym typeface="Poppins"/>
                </a:rPr>
                <a:t>Nhóm 23</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DAHIJXBDg3w</dc:identifier>
  <dcterms:modified xsi:type="dcterms:W3CDTF">2011-08-01T06:04:30Z</dcterms:modified>
  <cp:revision>1</cp:revision>
  <dc:title>Blue Minimalist Digital Evolution Computer Presentation</dc:title>
</cp:coreProperties>
</file>